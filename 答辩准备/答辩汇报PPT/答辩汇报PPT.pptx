
<file path=[Content_Types].xml><?xml version="1.0" encoding="utf-8"?>
<Types xmlns="http://schemas.openxmlformats.org/package/2006/content-types">
  <Default Extension="png" ContentType="image/png"/>
  <Default Extension="xml" ContentType="application/xml"/>
  <Default Extension="rels" ContentType="application/vnd.openxmlformats-package.relationships+xml"/>
  <Override PartName="/ppt/theme/theme2.xml" ContentType="application/vnd.openxmlformats-officedocument.theme+xml"/>
  <Override PartName="/ppt/slides/slide9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13.xml" ContentType="application/vnd.openxmlformats-officedocument.presentationml.slide+xml"/>
  <Override PartName="/ppt/theme/theme1.xml" ContentType="application/vnd.openxmlformats-officedocument.them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r="http://schemas.openxmlformats.org/officeDocument/2006/relationships" xmlns:p="http://schemas.openxmlformats.org/presentationml/2006/main" xmlns:a="http://schemas.openxmlformats.org/drawingml/2006/main" firstSlideNum="1">
  <p:sldMasterIdLst>
    <p:sldMasterId id="2147483648" r:id="rId0"/>
  </p:sldMasterIdLst>
  <p:notesMasterIdLst>
    <p:notesMasterId r:id="rId14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8" Type="http://schemas.openxmlformats.org/officeDocument/2006/relationships/slide" Target="slides/slide8.xml" /><Relationship Id="rId3" Type="http://schemas.openxmlformats.org/officeDocument/2006/relationships/slide" Target="slides/slide3.xml" /><Relationship Id="rId11" Type="http://schemas.openxmlformats.org/officeDocument/2006/relationships/slide" Target="slides/slide11.xml" /><Relationship Id="rId13" Type="http://schemas.openxmlformats.org/officeDocument/2006/relationships/slide" Target="slides/slide13.xml" /><Relationship Id="rId15" Type="http://schemas.openxmlformats.org/officeDocument/2006/relationships/presProps" Target="presProps.xml" /><Relationship Id="rId2" Type="http://schemas.openxmlformats.org/officeDocument/2006/relationships/slide" Target="slides/slide2.xml" /><Relationship Id="rId17" Type="http://schemas.openxmlformats.org/officeDocument/2006/relationships/viewProps" Target="viewProps.xml" /><Relationship Id="rId4" Type="http://schemas.openxmlformats.org/officeDocument/2006/relationships/slide" Target="slides/slide4.xml" /><Relationship Id="rId14" Type="http://schemas.openxmlformats.org/officeDocument/2006/relationships/notesMaster" Target="notesMasters/notesMaster1.xml" /><Relationship Id="rId7" Type="http://schemas.openxmlformats.org/officeDocument/2006/relationships/slide" Target="slides/slide7.xml" /><Relationship Id="rId12" Type="http://schemas.openxmlformats.org/officeDocument/2006/relationships/slide" Target="slides/slide12.xml" /><Relationship Id="rId16" Type="http://schemas.openxmlformats.org/officeDocument/2006/relationships/tableStyles" Target="tableStyles.xml" /><Relationship Id="rId10" Type="http://schemas.openxmlformats.org/officeDocument/2006/relationships/slide" Target="slides/slide10.xml" /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r="http://schemas.openxmlformats.org/officeDocument/2006/relationships"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3.pn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4.pn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14859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4" name=""/>
          <p:cNvSpPr/>
          <p:nvPr/>
        </p:nvSpPr>
        <p:spPr>
          <a:xfrm rot="0" flipH="0" flipV="0">
            <a:off x="0" y="1485900"/>
            <a:ext cx="57150" cy="28575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762000" y="2381250"/>
            <a:ext cx="106680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 spc="150">
                <a:solidFill>
                  <a:srgbClr val="1E4FA8"/>
                </a:solidFill>
                <a:latin typeface="Microsoft YaHei"/>
                <a:ea typeface="Microsoft YaHei"/>
              </a:rPr>
              <a:t>光伏功率预测</a:t>
            </a:r>
            <a:r>
              <a:rPr lang="zh-CN" sz="3300" b="1" spc="150">
                <a:solidFill>
                  <a:srgbClr val="1A2230"/>
                </a:solidFill>
                <a:latin typeface="Microsoft YaHei"/>
                <a:ea typeface="Microsoft YaHei"/>
              </a:rPr>
              <a:t>：多站对比与信息可得性分析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762000" y="3057525"/>
            <a:ext cx="10668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4A5568"/>
                </a:solidFill>
                <a:latin typeface="Microsoft YaHei"/>
                <a:ea typeface="Microsoft YaHei"/>
              </a:rPr>
              <a:t>基于</a:t>
            </a:r>
            <a:r>
              <a:rPr lang="en-US" sz="1800">
                <a:solidFill>
                  <a:srgbClr val="4A5568"/>
                </a:solidFill>
                <a:latin typeface="Microsoft YaHei"/>
                <a:ea typeface="Microsoft YaHei"/>
              </a:rPr>
              <a:t xml:space="preserve"> PVOD </a:t>
            </a:r>
            <a:r>
              <a:rPr lang="zh-CN" sz="1800">
                <a:solidFill>
                  <a:srgbClr val="4A5568"/>
                </a:solidFill>
                <a:latin typeface="Microsoft YaHei"/>
                <a:ea typeface="Microsoft YaHei"/>
              </a:rPr>
              <a:t>河北十站数据的机器学习方法对照实验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457200" y="3505200"/>
            <a:ext cx="11252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8B97A8"/>
                </a:solidFill>
                <a:latin typeface="Microsoft YaHei"/>
                <a:ea typeface="Microsoft YaHei"/>
              </a:rPr>
              <a:t>西华大学电气与电子信息学院</a:t>
            </a:r>
            <a:r>
              <a:rPr lang="en-US" sz="1650">
                <a:solidFill>
                  <a:srgbClr val="8B97A8"/>
                </a:solidFill>
                <a:latin typeface="Microsoft YaHei"/>
                <a:ea typeface="Microsoft YaHei"/>
              </a:rPr>
              <a:r>
                <a:rPr lang="zh-CN" sz="1650">
                  <a:solidFill>
                    <a:srgbClr val="8B97A8"/>
                  </a:solidFill>
                  <a:latin typeface="Microsoft YaHei"/>
                  <a:ea typeface="Microsoft YaHei"/>
                </a:rPr>
                <a:t xml:space="preserve"> · 自动化专业</a:t>
              </a:r>
              <a:t xml:space="preserve"> · 2026 </a:t>
            </a:r>
            <a:r>
              <a:rPr lang="zh-CN" sz="1650">
                <a:solidFill>
                  <a:srgbClr val="8B97A8"/>
                </a:solidFill>
                <a:latin typeface="Microsoft YaHei"/>
                <a:ea typeface="Microsoft YaHei"/>
              </a:rPr>
              <a:t>年电气</a:t>
            </a:r>
            <a:r>
              <a:rPr lang="en-US" sz="1650">
                <a:solidFill>
                  <a:srgbClr val="8B97A8"/>
                </a:solidFill>
                <a:latin typeface="Microsoft YaHei"/>
                <a:ea typeface="Microsoft YaHei"/>
              </a:rPr>
              <a:t xml:space="preserve"> Club </a:t>
            </a:r>
            <a:r>
              <a:rPr lang="zh-CN" sz="1650">
                <a:solidFill>
                  <a:srgbClr val="8B97A8"/>
                </a:solidFill>
                <a:latin typeface="Microsoft YaHei"/>
                <a:ea typeface="Microsoft YaHei"/>
              </a:rPr>
              <a:t>论文组招新答辩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762000" y="5334000"/>
            <a:ext cx="106680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>
            <a:pPr/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62000" y="5638800"/>
            <a:ext cx="628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汇报人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762000" y="5924550"/>
            <a:ext cx="628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徐敏纯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2000250" y="5638800"/>
            <a:ext cx="1524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学号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2000250" y="5924550"/>
            <a:ext cx="1524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3120260807425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4133850" y="5638800"/>
            <a:ext cx="16859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方向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4133850" y="5924550"/>
            <a:ext cx="16859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方向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 xml:space="preserve"> A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　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 xml:space="preserve">机器学习 ×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电力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6429375" y="5638800"/>
            <a:ext cx="18573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答辩日期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429375" y="5924550"/>
            <a:ext cx="18573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年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月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 xml:space="preserve"> 14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日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"/>
          <p:cNvSpPr/>
          <p:nvPr/>
        </p:nvSpPr>
        <p:spPr>
          <a:xfrm rot="0" flipH="0" flipV="0">
            <a:off x="0" y="0"/>
            <a:ext cx="12192000" cy="952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381000" y="400050"/>
            <a:ext cx="11430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4FA8"/>
                </a:solidFill>
                <a:latin typeface="Microsoft YaHei"/>
                <a:ea typeface="Microsoft YaHei"/>
              </a:rPr>
              <a:t>汇报内容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381000" y="1076325"/>
            <a:ext cx="438150" cy="438150"/>
          </a:xfrm>
          <a:prstGeom prst="roundRect">
            <a:avLst>
              <a:gd name="adj" fmla="val 13043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476250" y="1162050"/>
            <a:ext cx="2571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1009650" y="1028700"/>
            <a:ext cx="50196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研究问题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1009650" y="1343025"/>
            <a:ext cx="50196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我把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气象信息能不能拿到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设成了控制变量，而不是直接比模型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381000" y="1781175"/>
            <a:ext cx="438150" cy="438150"/>
          </a:xfrm>
          <a:prstGeom prst="roundRect">
            <a:avLst>
              <a:gd name="adj" fmla="val 13043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476250" y="1866900"/>
            <a:ext cx="2571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1009650" y="1733550"/>
            <a:ext cx="48482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实验数据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1009650" y="2047875"/>
            <a:ext cx="48482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PVOD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河北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站一年记录，以及我发现并修掉的三处数据坑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381000" y="2486025"/>
            <a:ext cx="438150" cy="438150"/>
          </a:xfrm>
          <a:prstGeom prst="roundRect">
            <a:avLst>
              <a:gd name="adj" fmla="val 13043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476250" y="2571750"/>
            <a:ext cx="2571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1009650" y="2438400"/>
            <a:ext cx="4857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研究方法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1009650" y="2752725"/>
            <a:ext cx="4857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四种信息设定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七种方法，全部按时间前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70% /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后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30%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切分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381000" y="3190875"/>
            <a:ext cx="438150" cy="438150"/>
          </a:xfrm>
          <a:prstGeom prst="roundRect">
            <a:avLst>
              <a:gd name="adj" fmla="val 13043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476250" y="3276600"/>
            <a:ext cx="2571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1009650" y="3143250"/>
            <a:ext cx="37528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实验结果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1009650" y="3457575"/>
            <a:ext cx="3752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四个关键数字，以及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什么时候模型反而帮倒忙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381000" y="3895725"/>
            <a:ext cx="438150" cy="438150"/>
          </a:xfrm>
          <a:prstGeom prst="roundRect">
            <a:avLst>
              <a:gd name="adj" fmla="val 13043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476250" y="3981450"/>
            <a:ext cx="2571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1009650" y="3848100"/>
            <a:ext cx="3438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不足与个人收获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1009650" y="4162425"/>
            <a:ext cx="34385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我知道自己差在哪，也知道下一步该补什么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11344275" y="6438900"/>
            <a:ext cx="466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E4FA8"/>
                </a:solidFill>
                <a:latin typeface="Microsoft YaHei"/>
                <a:ea typeface="Microsoft YaHei"/>
              </a:rPr>
              <a:t>02 / 13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 rot="0" flipH="0" flipV="0">
            <a:off x="0" y="0"/>
            <a:ext cx="12192000" cy="952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381000" y="381000"/>
            <a:ext cx="11430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4FA8"/>
                </a:solidFill>
                <a:latin typeface="Microsoft YaHei"/>
                <a:ea typeface="Microsoft YaHei"/>
              </a:rPr>
              <a:t>一、我为什么先问</a:t>
            </a:r>
            <a:r>
              <a:rPr lang="en-US" sz="2700" b="1">
                <a:solidFill>
                  <a:srgbClr val="1E4FA8"/>
                </a:solidFill>
                <a:latin typeface="Microsoft YaHei"/>
                <a:ea typeface="Microsoft YaHei"/>
              </a:rPr>
              <a:t>"</a:t>
            </a:r>
            <a:r>
              <a:rPr lang="zh-CN" sz="2700" b="1">
                <a:solidFill>
                  <a:srgbClr val="1E4FA8"/>
                </a:solidFill>
                <a:latin typeface="Microsoft YaHei"/>
                <a:ea typeface="Microsoft YaHei"/>
              </a:rPr>
              <a:t>手里有什么</a:t>
            </a:r>
            <a:r>
              <a:rPr lang="en-US" sz="2700" b="1">
                <a:solidFill>
                  <a:srgbClr val="1E4FA8"/>
                </a:solidFill>
                <a:latin typeface="Microsoft YaHei"/>
                <a:ea typeface="Microsoft YaHei"/>
              </a:rPr>
              <a:t>"</a:t>
            </a:r>
            <a:r>
              <a:rPr lang="zh-CN" sz="2700" b="1">
                <a:solidFill>
                  <a:srgbClr val="1E4FA8"/>
                </a:solidFill>
                <a:latin typeface="Microsoft YaHei"/>
                <a:ea typeface="Microsoft YaHei"/>
              </a:rPr>
              <a:t>，而不是先比模型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381000" y="990600"/>
            <a:ext cx="5610225" cy="3276600"/>
          </a:xfrm>
          <a:prstGeom prst="roundRect">
            <a:avLst>
              <a:gd name="adj" fmla="val 2326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609600" y="1200150"/>
            <a:ext cx="5153025" cy="381000"/>
          </a:xfrm>
          <a:prstGeom prst="roundRect">
            <a:avLst>
              <a:gd name="adj" fmla="val 1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2686050" y="1200150"/>
            <a:ext cx="1143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研究问题一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609600" y="1714500"/>
            <a:ext cx="5153025" cy="3905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复杂模型（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LSTM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这类）是不是一定比简单模型好？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09600" y="2238375"/>
            <a:ext cx="5153025" cy="781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我用一个只有一层映射的任务去拷问它：如果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上一刻的功率就是这一刻的功率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，谁学得最像。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609600" y="3724275"/>
            <a:ext cx="1571625" cy="333375"/>
          </a:xfrm>
          <a:prstGeom prst="roundRect">
            <a:avLst>
              <a:gd name="adj" fmla="val 400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762000" y="3781425"/>
            <a:ext cx="1266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4FA8"/>
                </a:solidFill>
                <a:latin typeface="Microsoft YaHei"/>
                <a:ea typeface="Microsoft YaHei"/>
              </a:rPr>
              <a:t>用恒等映射检验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6200775" y="990600"/>
            <a:ext cx="5610225" cy="3276600"/>
          </a:xfrm>
          <a:prstGeom prst="roundRect">
            <a:avLst>
              <a:gd name="adj" fmla="val 2326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6429375" y="1200150"/>
            <a:ext cx="5153025" cy="381000"/>
          </a:xfrm>
          <a:prstGeom prst="roundRect">
            <a:avLst>
              <a:gd name="adj" fmla="val 1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8505825" y="1200150"/>
            <a:ext cx="1143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研究问题二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6429375" y="1714500"/>
            <a:ext cx="5153025" cy="3905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多站数据该怎么用才有用？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6429375" y="2238375"/>
            <a:ext cx="5153025" cy="781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新建电站没数据的时候，是拿别站训好的模型直接用，还是把别站数据合进来一起训？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6429375" y="3724275"/>
            <a:ext cx="1571625" cy="333375"/>
          </a:xfrm>
          <a:prstGeom prst="roundRect">
            <a:avLst>
              <a:gd name="adj" fmla="val 400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6581775" y="3781425"/>
            <a:ext cx="1266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4FA8"/>
                </a:solidFill>
                <a:latin typeface="Microsoft YaHei"/>
                <a:ea typeface="Microsoft YaHei"/>
              </a:rPr>
              <a:t>留一站交叉验证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381000" y="4476750"/>
            <a:ext cx="11430000" cy="838200"/>
          </a:xfrm>
          <a:prstGeom prst="roundRect">
            <a:avLst>
              <a:gd name="adj" fmla="val 6818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609600" y="4505325"/>
            <a:ext cx="10972800" cy="790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725" b="1">
                <a:solidFill>
                  <a:srgbClr val="FFC107"/>
                </a:solidFill>
                <a:latin typeface="Microsoft YaHei"/>
                <a:ea typeface="Microsoft YaHei"/>
              </a:rPr>
              <a:t>共同前提</a:t>
            </a:r>
            <a:r>
              <a:rPr lang="zh-CN" sz="1725">
                <a:solidFill>
                  <a:srgbClr val="FFFFFF"/>
                </a:solidFill>
                <a:latin typeface="Microsoft YaHei"/>
                <a:ea typeface="Microsoft YaHei"/>
              </a:rPr>
              <a:t>：先分清同时刻实测气象、同时刻预报气象、只有历史观测这三种场景</a:t>
            </a:r>
            <a:r>
              <a:rPr lang="en-US" sz="1725">
                <a:solidFill>
                  <a:srgbClr val="FFFFFF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725">
                <a:solidFill>
                  <a:srgbClr val="FFFFFF"/>
                </a:solidFill>
                <a:latin typeface="Microsoft YaHei"/>
                <a:ea typeface="Microsoft YaHei"/>
              </a:rPr>
              <a:t>因为工程上能拿到的数据根本不一样。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11344275" y="6438900"/>
            <a:ext cx="466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E4FA8"/>
                </a:solidFill>
                <a:latin typeface="Microsoft YaHei"/>
                <a:ea typeface="Microsoft YaHei"/>
              </a:rPr>
              <a:t>03 / 13</a:t>
            </a:r>
            <a:endParaRPr/>
          </a:p>
        </p:txBody>
      </p:sp>
    </p:spTree>
  </p:cSld>
</p:sld>
</file>

<file path=ppt/slides/slide4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"/>
          <p:cNvSpPr/>
          <p:nvPr/>
        </p:nvSpPr>
        <p:spPr>
          <a:xfrm rot="0" flipH="0" flipV="0">
            <a:off x="0" y="0"/>
            <a:ext cx="12192000" cy="952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381000" y="381000"/>
            <a:ext cx="11430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4FA8"/>
                </a:solidFill>
                <a:latin typeface="Microsoft YaHei"/>
                <a:ea typeface="Microsoft YaHei"/>
              </a:rPr>
              <a:t>二、实验数据：</a:t>
            </a:r>
            <a:r>
              <a:rPr lang="en-US" sz="27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PVOD </a:t>
            </a:r>
            <a:r>
              <a:rPr lang="zh-CN" sz="2700" b="1">
                <a:solidFill>
                  <a:srgbClr val="1E4FA8"/>
                </a:solidFill>
                <a:latin typeface="Microsoft YaHei"/>
                <a:ea typeface="Microsoft YaHei"/>
              </a:rPr>
              <a:t>河北</a:t>
            </a:r>
            <a:r>
              <a:rPr lang="en-US" sz="27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2700" b="1">
                <a:solidFill>
                  <a:srgbClr val="1E4FA8"/>
                </a:solidFill>
                <a:latin typeface="Microsoft YaHei"/>
                <a:ea typeface="Microsoft YaHei"/>
              </a:rPr>
              <a:t>站，一年</a:t>
            </a:r>
            <a:r>
              <a:rPr lang="en-US" sz="27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15 </a:t>
            </a:r>
            <a:r>
              <a:rPr lang="zh-CN" sz="2700" b="1">
                <a:solidFill>
                  <a:srgbClr val="1E4FA8"/>
                </a:solidFill>
                <a:latin typeface="Microsoft YaHei"/>
                <a:ea typeface="Microsoft YaHei"/>
              </a:rPr>
              <a:t>分钟一条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381000" y="990600"/>
            <a:ext cx="2324100" cy="1438275"/>
          </a:xfrm>
          <a:prstGeom prst="roundRect">
            <a:avLst>
              <a:gd name="adj" fmla="val 5298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552450" y="1143000"/>
            <a:ext cx="1981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总记录数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552450" y="1381125"/>
            <a:ext cx="1981200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1E4FA8"/>
                </a:solidFill>
                <a:latin typeface="Microsoft YaHei"/>
                <a:ea typeface="Microsoft YaHei"/>
              </a:rPr>
              <a:t>271,803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552450" y="1885950"/>
            <a:ext cx="198120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原始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 xml:space="preserve"> 271,968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行，剔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 xml:space="preserve"> 165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条后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2838450" y="990600"/>
            <a:ext cx="2314575" cy="1438275"/>
          </a:xfrm>
          <a:prstGeom prst="roundRect">
            <a:avLst>
              <a:gd name="adj" fmla="val 5298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3009900" y="1143000"/>
            <a:ext cx="19716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总装机容量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3009900" y="1381125"/>
            <a:ext cx="1971675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1E4FA8"/>
                </a:solidFill>
                <a:latin typeface="Microsoft YaHei"/>
                <a:ea typeface="Microsoft YaHei"/>
              </a:rPr>
              <a:t>193.6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3009900" y="1885950"/>
            <a:ext cx="1971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MW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，单站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 xml:space="preserve"> 6.6 ~ 35 MW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381000" y="2562225"/>
            <a:ext cx="2324100" cy="1247775"/>
          </a:xfrm>
          <a:prstGeom prst="roundRect">
            <a:avLst>
              <a:gd name="adj" fmla="val 6107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552450" y="2714625"/>
            <a:ext cx="1981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时间粒度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552450" y="2952750"/>
            <a:ext cx="1981200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1E4FA8"/>
                </a:solidFill>
                <a:latin typeface="Microsoft YaHei"/>
                <a:ea typeface="Microsoft YaHei"/>
              </a:rPr>
              <a:t>15 min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552450" y="3457575"/>
            <a:ext cx="1981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 xml:space="preserve">2018-06-30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至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 xml:space="preserve"> 2019-06-13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2838450" y="2562225"/>
            <a:ext cx="2314575" cy="1247775"/>
          </a:xfrm>
          <a:prstGeom prst="roundRect">
            <a:avLst>
              <a:gd name="adj" fmla="val 6107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3009900" y="2714625"/>
            <a:ext cx="19716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气象变量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3009900" y="2952750"/>
            <a:ext cx="1971675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13 </a:t>
            </a:r>
            <a:r>
              <a:rPr lang="zh-CN" sz="3150" b="1">
                <a:solidFill>
                  <a:srgbClr val="1E4FA8"/>
                </a:solidFill>
                <a:latin typeface="Microsoft YaHei"/>
                <a:ea typeface="Microsoft YaHei"/>
              </a:rPr>
              <a:t>个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3009900" y="3457575"/>
            <a:ext cx="1971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 xml:space="preserve">7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个预报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 xml:space="preserve"> + 6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个站内实测</a:t>
            </a:r>
            <a:endParaRPr/>
          </a:p>
        </p:txBody>
      </p:sp>
      <p:pic>
        <p:nvPicPr>
          <p:cNvPr id="190" name=""/>
          <p:cNvPicPr>
            <a:picLocks noChangeAspect="1"/>
          </p:cNvPicPr>
          <p:nvPr/>
        </p:nvPicPr>
        <p:blipFill>
          <a:blip r:embed="rId1"/>
          <a:srcRect l="946" t="0" r="946" b="0"/>
          <a:stretch>
            <a:fillRect/>
          </a:stretch>
        </p:blipFill>
        <p:spPr>
          <a:xfrm rot="0" flipH="0" flipV="0">
            <a:off x="5362575" y="990600"/>
            <a:ext cx="6448425" cy="2438400"/>
          </a:xfrm>
          <a:prstGeom prst="rect">
            <a:avLst/>
          </a:prstGeom>
          <a:ln/>
        </p:spPr>
      </p:pic>
      <p:sp>
        <p:nvSpPr>
          <p:cNvPr id="191" name=""/>
          <p:cNvSpPr/>
          <p:nvPr/>
        </p:nvSpPr>
        <p:spPr>
          <a:xfrm rot="0" flipH="0" flipV="0">
            <a:off x="381000" y="3981450"/>
            <a:ext cx="5619750" cy="1219200"/>
          </a:xfrm>
          <a:prstGeom prst="roundRect">
            <a:avLst>
              <a:gd name="adj" fmla="val 6250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571500" y="4114800"/>
            <a:ext cx="5238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为什么必须按容量归一化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571500" y="4410075"/>
            <a:ext cx="523875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十站装机差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倍，直接比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MW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等于比谁电站大。统一除以装机容量，误差单位就是「占装机容量的百分比」。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6191250" y="3981450"/>
            <a:ext cx="5619750" cy="1219200"/>
          </a:xfrm>
          <a:prstGeom prst="roundRect">
            <a:avLst>
              <a:gd name="adj" fmla="val 6250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6381750" y="4114800"/>
            <a:ext cx="5238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49.07% 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的样本是夜间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6381750" y="4410075"/>
            <a:ext cx="523875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天黑停机是真实物理状态，不是缺失值，所以一条都没删；指标只在有发电的时段比较。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11344275" y="6438900"/>
            <a:ext cx="466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E4FA8"/>
                </a:solidFill>
                <a:latin typeface="Microsoft YaHei"/>
                <a:ea typeface="Microsoft YaHei"/>
              </a:rPr>
              <a:t>04 / 13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"/>
          <p:cNvSpPr/>
          <p:nvPr/>
        </p:nvSpPr>
        <p:spPr>
          <a:xfrm rot="0" flipH="0" flipV="0">
            <a:off x="0" y="0"/>
            <a:ext cx="12192000" cy="952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381000" y="381000"/>
            <a:ext cx="11430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4FA8"/>
                </a:solidFill>
                <a:latin typeface="Microsoft YaHei"/>
                <a:ea typeface="Microsoft YaHei"/>
              </a:rPr>
              <a:t>三处会毁掉结论的数据坑（都是我自己踩出来又爬出来的）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381000" y="990600"/>
            <a:ext cx="3695700" cy="3352800"/>
          </a:xfrm>
          <a:prstGeom prst="roundRect">
            <a:avLst>
              <a:gd name="adj" fmla="val 2273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571500" y="1181100"/>
            <a:ext cx="323850" cy="323850"/>
          </a:xfrm>
          <a:prstGeom prst="roundRect">
            <a:avLst>
              <a:gd name="adj" fmla="val 11765"/>
            </a:avLst>
          </a:prstGeom>
          <a:solidFill>
            <a:srgbClr val="D9534F"/>
          </a:solidFill>
          <a:ln/>
        </p:spPr>
        <p:txBody>
          <a:bodyPr/>
          <a:p>
            <a:pPr/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676275" y="1228725"/>
            <a:ext cx="114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981075" y="1200150"/>
            <a:ext cx="29051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2230"/>
                </a:solidFill>
                <a:latin typeface="Microsoft YaHei"/>
                <a:ea typeface="Microsoft YaHei"/>
              </a:rPr>
              <a:t>时间戳是</a:t>
            </a:r>
            <a:r>
              <a:rPr lang="en-US" sz="1875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UTC</a:t>
            </a:r>
            <a:r>
              <a:rPr lang="zh-CN" sz="1875" b="1">
                <a:solidFill>
                  <a:srgbClr val="1A2230"/>
                </a:solidFill>
                <a:latin typeface="Microsoft YaHei"/>
                <a:ea typeface="Microsoft YaHei"/>
              </a:rPr>
              <a:t>，不是北京时间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571500" y="1600200"/>
            <a:ext cx="33147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按原始时钟统计，辐射峰值出现在凌晨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500" b="1">
                <a:solidFill>
                  <a:srgbClr val="D9534F"/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1500" b="1">
                <a:solidFill>
                  <a:srgbClr val="D9534F"/>
                </a:solidFill>
                <a:latin typeface="Microsoft YaHei"/>
                <a:ea typeface="Microsoft YaHei"/>
              </a:rPr>
              <a:t>点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，太阳去哪了？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571500" y="2381250"/>
            <a:ext cx="33147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顺着查发现：做天气分场景时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83%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的样本被判成「阴天」，明显反常。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571500" y="3562350"/>
            <a:ext cx="3314700" cy="628650"/>
          </a:xfrm>
          <a:prstGeom prst="roundRect">
            <a:avLst>
              <a:gd name="adj" fmla="val 9091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704850" y="3657600"/>
            <a:ext cx="3048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4FA8"/>
                </a:solidFill>
                <a:latin typeface="Microsoft YaHei"/>
                <a:ea typeface="Microsoft YaHei"/>
              </a:rPr>
              <a:t>统一加</a:t>
            </a:r>
            <a:r>
              <a:rPr lang="en-US" sz="1425">
                <a:solidFill>
                  <a:srgbClr val="1E4FA8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1425">
                <a:solidFill>
                  <a:srgbClr val="1E4FA8"/>
                </a:solidFill>
                <a:latin typeface="Microsoft YaHei"/>
                <a:ea typeface="Microsoft YaHei"/>
              </a:rPr>
              <a:t>小时后峰值回到正午</a:t>
            </a:r>
            <a:r>
              <a:rPr lang="en-US" sz="1425">
                <a:solidFill>
                  <a:srgbClr val="1E4FA8"/>
                </a:solidFill>
                <a:latin typeface="Microsoft YaHei"/>
                <a:ea typeface="Microsoft YaHei"/>
              </a:rPr>
              <a:t xml:space="preserve"> 12 </a:t>
            </a:r>
            <a:r>
              <a:rPr lang="zh-CN" sz="1425">
                <a:solidFill>
                  <a:srgbClr val="1E4FA8"/>
                </a:solidFill>
                <a:latin typeface="Microsoft YaHei"/>
                <a:ea typeface="Microsoft YaHei"/>
              </a:rPr>
              <a:t>点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704850" y="3895725"/>
            <a:ext cx="3048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若不改，日变化曲线全部错位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小时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4248150" y="990600"/>
            <a:ext cx="3695700" cy="3352800"/>
          </a:xfrm>
          <a:prstGeom prst="roundRect">
            <a:avLst>
              <a:gd name="adj" fmla="val 2273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4438650" y="1181100"/>
            <a:ext cx="323850" cy="323850"/>
          </a:xfrm>
          <a:prstGeom prst="roundRect">
            <a:avLst>
              <a:gd name="adj" fmla="val 11765"/>
            </a:avLst>
          </a:prstGeom>
          <a:solidFill>
            <a:srgbClr val="D9534F"/>
          </a:solidFill>
          <a:ln/>
        </p:spPr>
        <p:txBody>
          <a:bodyPr/>
          <a:p>
            <a:pPr/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4543425" y="1228725"/>
            <a:ext cx="114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4876800" y="1200150"/>
            <a:ext cx="21431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2230"/>
                </a:solidFill>
                <a:latin typeface="Microsoft YaHei"/>
                <a:ea typeface="Microsoft YaHei"/>
              </a:rPr>
              <a:t>序列里有天数级断点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4438650" y="1600200"/>
            <a:ext cx="33147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十站共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500" b="1">
                <a:solidFill>
                  <a:srgbClr val="D9534F"/>
                </a:solidFill>
                <a:latin typeface="Microsoft YaHei"/>
                <a:ea typeface="Microsoft YaHei"/>
              </a:rPr>
              <a:t>130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处不是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15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分钟间隔，最大跳过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6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天。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4438650" y="2381250"/>
            <a:ext cx="33147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直接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shift(1)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取「上一刻」，实际取到的是数天前同一时刻的值。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4438650" y="3562350"/>
            <a:ext cx="3314700" cy="628650"/>
          </a:xfrm>
          <a:prstGeom prst="roundRect">
            <a:avLst>
              <a:gd name="adj" fmla="val 9091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4572000" y="3657600"/>
            <a:ext cx="3048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4FA8"/>
                </a:solidFill>
                <a:latin typeface="Microsoft YaHei"/>
                <a:ea typeface="Microsoft YaHei"/>
              </a:rPr>
              <a:t>滞后特征按真实间隔置</a:t>
            </a:r>
            <a:r>
              <a:rPr lang="en-US" sz="1425">
                <a:solidFill>
                  <a:srgbClr val="1E4FA8"/>
                </a:solidFill>
                <a:latin typeface="Microsoft YaHei"/>
                <a:ea typeface="Microsoft YaHei"/>
              </a:rPr>
              <a:t xml:space="preserve"> NaN </a:t>
            </a:r>
            <a:r>
              <a:rPr lang="zh-CN" sz="1425">
                <a:solidFill>
                  <a:srgbClr val="1E4FA8"/>
                </a:solidFill>
                <a:latin typeface="Microsoft YaHei"/>
                <a:ea typeface="Microsoft YaHei"/>
              </a:rPr>
              <a:t>再剔除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4572000" y="3895725"/>
            <a:ext cx="3048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不能用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 xml:space="preserve"> pandas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默认的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 xml:space="preserve"> shift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8115300" y="990600"/>
            <a:ext cx="3695700" cy="3352800"/>
          </a:xfrm>
          <a:prstGeom prst="roundRect">
            <a:avLst>
              <a:gd name="adj" fmla="val 2273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8305800" y="1181100"/>
            <a:ext cx="323850" cy="323850"/>
          </a:xfrm>
          <a:prstGeom prst="roundRect">
            <a:avLst>
              <a:gd name="adj" fmla="val 11765"/>
            </a:avLst>
          </a:prstGeom>
          <a:solidFill>
            <a:srgbClr val="D9534F"/>
          </a:solidFill>
          <a:ln/>
        </p:spPr>
        <p:txBody>
          <a:bodyPr/>
          <a:p>
            <a:pPr/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8410575" y="1228725"/>
            <a:ext cx="114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8743950" y="1200150"/>
            <a:ext cx="28575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2230"/>
                </a:solidFill>
                <a:latin typeface="Microsoft YaHei"/>
                <a:ea typeface="Microsoft YaHei"/>
              </a:rPr>
              <a:t>存在疑似缺测的「平顶」段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8305800" y="1600200"/>
            <a:ext cx="33147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连续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点以上总辐射完全相等且大于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100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，共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500" b="1">
                <a:solidFill>
                  <a:srgbClr val="D9534F"/>
                </a:solidFill>
                <a:latin typeface="Microsoft YaHei"/>
                <a:ea typeface="Microsoft YaHei"/>
              </a:rPr>
              <a:t>171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行。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8305800" y="2381250"/>
            <a:ext cx="3314700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站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01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在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2019-06-10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上午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点到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19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点，辐射恒为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837.8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、功率恒为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14.03 MW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8305800" y="3562350"/>
            <a:ext cx="3314700" cy="628650"/>
          </a:xfrm>
          <a:prstGeom prst="roundRect">
            <a:avLst>
              <a:gd name="adj" fmla="val 9091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8439150" y="3657600"/>
            <a:ext cx="3048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4FA8"/>
                </a:solidFill>
                <a:latin typeface="Microsoft YaHei"/>
                <a:ea typeface="Microsoft YaHei"/>
              </a:rPr>
              <a:t>画典型日曲线时只能排除，不删数据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8439150" y="3895725"/>
            <a:ext cx="3048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否则图会画成方波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381000" y="4533900"/>
            <a:ext cx="11430000" cy="800100"/>
          </a:xfrm>
          <a:prstGeom prst="roundRect">
            <a:avLst>
              <a:gd name="adj" fmla="val 7143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609600" y="4552950"/>
            <a:ext cx="1097280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650">
                <a:solidFill>
                  <a:srgbClr val="FFFFFF"/>
                </a:solidFill>
                <a:latin typeface="Microsoft YaHei"/>
                <a:ea typeface="Microsoft YaHei"/>
              </a:rPr>
              <a:t>这三个坑都不是题目告诉我的，是跑出来的结果反常才倒查出来的</a:t>
            </a:r>
            <a:r>
              <a:rPr lang="en-US" sz="1650">
                <a:solidFill>
                  <a:srgbClr val="FFFFFF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650">
                <a:solidFill>
                  <a:srgbClr val="FFFFFF"/>
                </a:solidFill>
                <a:latin typeface="Microsoft YaHei"/>
                <a:ea typeface="Microsoft YaHei"/>
              </a:rPr>
              <a:t>报告里我把反常现象和排查过程原样写了进去。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11344275" y="6438900"/>
            <a:ext cx="466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E4FA8"/>
                </a:solidFill>
                <a:latin typeface="Microsoft YaHei"/>
                <a:ea typeface="Microsoft YaHei"/>
              </a:rPr>
              <a:t>05 / 13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2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"/>
          <p:cNvSpPr/>
          <p:nvPr/>
        </p:nvSpPr>
        <p:spPr>
          <a:xfrm rot="0" flipH="0" flipV="0">
            <a:off x="0" y="0"/>
            <a:ext cx="12192000" cy="952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381000" y="381000"/>
            <a:ext cx="11430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4FA8"/>
                </a:solidFill>
                <a:latin typeface="Microsoft YaHei"/>
                <a:ea typeface="Microsoft YaHei"/>
              </a:rPr>
              <a:t>三、研究方法：四种信息设定</a:t>
            </a:r>
            <a:r>
              <a:rPr lang="en-US" sz="27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2700" b="1">
                <a:solidFill>
                  <a:srgbClr val="1E4FA8"/>
                </a:solidFill>
                <a:latin typeface="Microsoft YaHei"/>
                <a:ea typeface="Microsoft YaHei"/>
              </a:rPr>
              <a:t>七种方法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381000" y="971550"/>
            <a:ext cx="2771775" cy="2247900"/>
          </a:xfrm>
          <a:prstGeom prst="roundRect">
            <a:avLst>
              <a:gd name="adj" fmla="val 3390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552450" y="1123950"/>
            <a:ext cx="495300" cy="295275"/>
          </a:xfrm>
          <a:prstGeom prst="roundRect">
            <a:avLst>
              <a:gd name="adj" fmla="val 45161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685800" y="1162050"/>
            <a:ext cx="228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甲′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1143000" y="1143000"/>
            <a:ext cx="1257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只有数值预报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552450" y="1476375"/>
            <a:ext cx="2428875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用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nwp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七变量：气象台提前给的预报值，电站拿不到实况。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552450" y="2190750"/>
            <a:ext cx="2428875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8B97A8"/>
                </a:solidFill>
                <a:latin typeface="Microsoft YaHei"/>
                <a:ea typeface="Microsoft YaHei"/>
              </a:rPr>
              <a:t>现报前的场景，最难的一档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3267075" y="971550"/>
            <a:ext cx="2771775" cy="2247900"/>
          </a:xfrm>
          <a:prstGeom prst="roundRect">
            <a:avLst>
              <a:gd name="adj" fmla="val 3390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3438525" y="1123950"/>
            <a:ext cx="447675" cy="295275"/>
          </a:xfrm>
          <a:prstGeom prst="roundRect">
            <a:avLst>
              <a:gd name="adj" fmla="val 45161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3571875" y="1162050"/>
            <a:ext cx="180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甲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3981450" y="1143000"/>
            <a:ext cx="1047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同时刻实测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3438525" y="1476375"/>
            <a:ext cx="2428875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用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lmd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六变量：站内气象站同一个时刻的真实读数。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3438525" y="2190750"/>
            <a:ext cx="2428875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8B97A8"/>
                </a:solidFill>
                <a:latin typeface="Microsoft YaHei"/>
                <a:ea typeface="Microsoft YaHei"/>
              </a:rPr>
              <a:t>有气象站的新能源场站就在这个档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6153150" y="971550"/>
            <a:ext cx="2771775" cy="2247900"/>
          </a:xfrm>
          <a:prstGeom prst="roundRect">
            <a:avLst>
              <a:gd name="adj" fmla="val 3390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6324600" y="1123950"/>
            <a:ext cx="447675" cy="295275"/>
          </a:xfrm>
          <a:prstGeom prst="roundRect">
            <a:avLst>
              <a:gd name="adj" fmla="val 45161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6457950" y="1162050"/>
            <a:ext cx="180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乙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6867525" y="1143000"/>
            <a:ext cx="1257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只有历史观测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6324600" y="1476375"/>
            <a:ext cx="2428875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只用本站过去的功率和气象，配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1~24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小时滞后特征。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6324600" y="2190750"/>
            <a:ext cx="2428875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8B97A8"/>
                </a:solidFill>
                <a:latin typeface="Microsoft YaHei"/>
                <a:ea typeface="Microsoft YaHei"/>
              </a:rPr>
              <a:t>气象站坏了还能不能救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9039225" y="971550"/>
            <a:ext cx="2771775" cy="2247900"/>
          </a:xfrm>
          <a:prstGeom prst="roundRect">
            <a:avLst>
              <a:gd name="adj" fmla="val 3390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9210675" y="1123950"/>
            <a:ext cx="447675" cy="295275"/>
          </a:xfrm>
          <a:prstGeom prst="roundRect">
            <a:avLst>
              <a:gd name="adj" fmla="val 45161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9344025" y="1162050"/>
            <a:ext cx="180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丙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9753600" y="1143000"/>
            <a:ext cx="1085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气象</a:t>
            </a: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历史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9210675" y="1476375"/>
            <a:ext cx="2428875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两套都给，看同时刻信息到底能不能被历史补上。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9210675" y="2190750"/>
            <a:ext cx="2428875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8B97A8"/>
                </a:solidFill>
                <a:latin typeface="Microsoft YaHei"/>
                <a:ea typeface="Microsoft YaHei"/>
              </a:rPr>
              <a:t>这才是工程上最现实的档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381000" y="3371850"/>
            <a:ext cx="11430000" cy="1028700"/>
          </a:xfrm>
          <a:prstGeom prst="roundRect">
            <a:avLst>
              <a:gd name="adj" fmla="val 7407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571500" y="3505200"/>
            <a:ext cx="1104900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参加比较的共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5 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种机器学习方法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：线性回归、随机森林、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GBDT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、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LightGBM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、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XGBoost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，外加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类朴素基线（上一刻功率、固定系数乘辐射）；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LSTM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另作神经网络对照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381000" y="4781550"/>
            <a:ext cx="2800350" cy="381000"/>
          </a:xfrm>
          <a:prstGeom prst="roundRect">
            <a:avLst>
              <a:gd name="adj" fmla="val 50000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571500" y="4857750"/>
            <a:ext cx="2419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按时间前</a:t>
            </a:r>
            <a:r>
              <a:rPr lang="en-US" sz="1500">
                <a:solidFill>
                  <a:srgbClr val="FFFFFF"/>
                </a:solidFill>
                <a:latin typeface="Microsoft YaHei"/>
                <a:ea typeface="Microsoft YaHei"/>
              </a:rPr>
              <a:t xml:space="preserve"> 70% / 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后</a:t>
            </a:r>
            <a:r>
              <a:rPr lang="en-US" sz="1500">
                <a:solidFill>
                  <a:srgbClr val="FFFFFF"/>
                </a:solidFill>
                <a:latin typeface="Microsoft YaHei"/>
                <a:ea typeface="Microsoft YaHei"/>
              </a:rPr>
              <a:t xml:space="preserve"> 30% 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切分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3295650" y="4781550"/>
            <a:ext cx="2324100" cy="381000"/>
          </a:xfrm>
          <a:prstGeom prst="roundRect">
            <a:avLst>
              <a:gd name="adj" fmla="val 50000"/>
            </a:avLst>
          </a:prstGeom>
          <a:ln w="12700">
            <a:solidFill>
              <a:srgbClr val="3D7BD9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3486150" y="4857750"/>
            <a:ext cx="1943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E4FA8"/>
                </a:solidFill>
                <a:latin typeface="Microsoft YaHei"/>
                <a:ea typeface="Microsoft YaHei"/>
              </a:rPr>
              <a:t>指标统一为</a:t>
            </a:r>
            <a:r>
              <a:rPr lang="en-US" sz="1500">
                <a:solidFill>
                  <a:srgbClr val="1E4FA8"/>
                </a:solidFill>
                <a:latin typeface="Microsoft YaHei"/>
                <a:ea typeface="Microsoft YaHei"/>
              </a:rPr>
              <a:t xml:space="preserve"> %</a:t>
            </a:r>
            <a:r>
              <a:rPr lang="zh-CN" sz="1500">
                <a:solidFill>
                  <a:srgbClr val="1E4FA8"/>
                </a:solidFill>
                <a:latin typeface="Microsoft YaHei"/>
                <a:ea typeface="Microsoft YaHei"/>
              </a:rPr>
              <a:t>装机容量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5734050" y="4781550"/>
            <a:ext cx="2266950" cy="381000"/>
          </a:xfrm>
          <a:prstGeom prst="roundRect">
            <a:avLst>
              <a:gd name="adj" fmla="val 50000"/>
            </a:avLst>
          </a:prstGeom>
          <a:ln w="12700">
            <a:solidFill>
              <a:srgbClr val="3D7BD9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5924550" y="4857750"/>
            <a:ext cx="1885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E4FA8"/>
                </a:solidFill>
                <a:latin typeface="Microsoft YaHei"/>
                <a:ea typeface="Microsoft YaHei"/>
              </a:rPr>
              <a:t>同时报</a:t>
            </a:r>
            <a:r>
              <a:rPr lang="en-US" sz="1500">
                <a:solidFill>
                  <a:srgbClr val="1E4FA8"/>
                </a:solidFill>
                <a:latin typeface="Microsoft YaHei"/>
                <a:ea typeface="Microsoft YaHei"/>
              </a:rPr>
              <a:t xml:space="preserve"> MAE </a:t>
            </a:r>
            <a:r>
              <a:rPr lang="zh-CN" sz="1500">
                <a:solidFill>
                  <a:srgbClr val="1E4FA8"/>
                </a:solidFill>
                <a:latin typeface="Microsoft YaHei"/>
                <a:ea typeface="Microsoft YaHei"/>
              </a:rPr>
              <a:t>与</a:t>
            </a:r>
            <a:r>
              <a:rPr lang="en-US" sz="1500">
                <a:solidFill>
                  <a:srgbClr val="1E4FA8"/>
                </a:solidFill>
                <a:latin typeface="Microsoft YaHei"/>
                <a:ea typeface="Microsoft YaHei"/>
              </a:rPr>
              <a:t xml:space="preserve"> RMSE</a:t>
            </a:r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8115300" y="4781550"/>
            <a:ext cx="2886075" cy="381000"/>
          </a:xfrm>
          <a:prstGeom prst="roundRect">
            <a:avLst>
              <a:gd name="adj" fmla="val 50000"/>
            </a:avLst>
          </a:prstGeom>
          <a:ln w="12700">
            <a:solidFill>
              <a:srgbClr val="3D7BD9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8305800" y="4857750"/>
            <a:ext cx="2505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E4FA8"/>
                </a:solidFill>
                <a:latin typeface="Microsoft YaHei"/>
                <a:ea typeface="Microsoft YaHei"/>
              </a:rPr>
              <a:t>全部结果写进</a:t>
            </a:r>
            <a:r>
              <a:rPr lang="en-US" sz="1500">
                <a:solidFill>
                  <a:srgbClr val="1E4FA8"/>
                </a:solidFill>
                <a:latin typeface="Microsoft YaHei"/>
                <a:ea typeface="Microsoft YaHei"/>
              </a:rPr>
              <a:t xml:space="preserve"> results/ </a:t>
            </a:r>
            <a:r>
              <a:rPr lang="zh-CN" sz="1500">
                <a:solidFill>
                  <a:srgbClr val="1E4FA8"/>
                </a:solidFill>
                <a:latin typeface="Microsoft YaHei"/>
                <a:ea typeface="Microsoft YaHei"/>
              </a:rPr>
              <a:t>的</a:t>
            </a:r>
            <a:r>
              <a:rPr lang="en-US" sz="1500">
                <a:solidFill>
                  <a:srgbClr val="1E4FA8"/>
                </a:solidFill>
                <a:latin typeface="Microsoft YaHei"/>
                <a:ea typeface="Microsoft YaHei"/>
              </a:rPr>
              <a:t xml:space="preserve"> CSV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11344275" y="6438900"/>
            <a:ext cx="466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E4FA8"/>
                </a:solidFill>
                <a:latin typeface="Microsoft YaHei"/>
                <a:ea typeface="Microsoft YaHei"/>
              </a:rPr>
              <a:t>06 / 13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2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"/>
          <p:cNvSpPr/>
          <p:nvPr/>
        </p:nvSpPr>
        <p:spPr>
          <a:xfrm rot="0" flipH="0" flipV="0">
            <a:off x="0" y="0"/>
            <a:ext cx="12192000" cy="952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381000" y="381000"/>
            <a:ext cx="11430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4FA8"/>
                </a:solidFill>
                <a:latin typeface="Microsoft YaHei"/>
                <a:ea typeface="Microsoft YaHei"/>
              </a:rPr>
              <a:t>四、实验结果：十站平均误差，最好的只有</a:t>
            </a:r>
            <a:r>
              <a:rPr lang="en-US" sz="27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1.4942%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381000" y="990600"/>
            <a:ext cx="2762250" cy="2552700"/>
          </a:xfrm>
          <a:prstGeom prst="roundRect">
            <a:avLst>
              <a:gd name="adj" fmla="val 2985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552450" y="1181100"/>
            <a:ext cx="2419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甲′　预报气象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552450" y="1466850"/>
            <a:ext cx="241935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1E4FA8"/>
                </a:solidFill>
                <a:latin typeface="Microsoft YaHei"/>
                <a:ea typeface="Microsoft YaHei"/>
              </a:rPr>
              <a:t>4.8725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552450" y="2076450"/>
            <a:ext cx="2419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最优：随机森林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552450" y="2352675"/>
            <a:ext cx="2419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8B97A8"/>
                </a:solidFill>
                <a:latin typeface="Microsoft YaHei"/>
                <a:ea typeface="Microsoft YaHei"/>
              </a:rPr>
              <a:t>比</a:t>
            </a:r>
            <a:r>
              <a:rPr lang="en-US" sz="1425">
                <a:solidFill>
                  <a:srgbClr val="8B97A8"/>
                </a:solidFill>
                <a:latin typeface="Microsoft YaHei"/>
                <a:ea typeface="Microsoft YaHei"/>
              </a:rPr>
              <a:t xml:space="preserve"> Persistence </a:t>
            </a:r>
            <a:r>
              <a:rPr lang="zh-CN" sz="1425">
                <a:solidFill>
                  <a:srgbClr val="8B97A8"/>
                </a:solidFill>
                <a:latin typeface="Microsoft YaHei"/>
                <a:ea typeface="Microsoft YaHei"/>
              </a:rPr>
              <a:t>好</a:t>
            </a:r>
            <a:r>
              <a:rPr lang="en-US" sz="1425">
                <a:solidFill>
                  <a:srgbClr val="8B97A8"/>
                </a:solidFill>
                <a:latin typeface="Microsoft YaHei"/>
                <a:ea typeface="Microsoft YaHei"/>
              </a:rPr>
              <a:t xml:space="preserve"> 13.88%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552450" y="2990850"/>
            <a:ext cx="2419350" cy="361950"/>
          </a:xfrm>
          <a:prstGeom prst="roundRect">
            <a:avLst>
              <a:gd name="adj" fmla="val 15789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666750" y="3067050"/>
            <a:ext cx="2190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4FA8"/>
                </a:solidFill>
                <a:latin typeface="Microsoft YaHei"/>
                <a:ea typeface="Microsoft YaHei"/>
              </a:rPr>
              <a:t>最难的一档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3276600" y="990600"/>
            <a:ext cx="2752725" cy="2552700"/>
          </a:xfrm>
          <a:prstGeom prst="roundRect">
            <a:avLst>
              <a:gd name="adj" fmla="val 2985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3448050" y="1181100"/>
            <a:ext cx="2409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甲　实测气象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3448050" y="1466850"/>
            <a:ext cx="2409825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1E4FA8"/>
                </a:solidFill>
                <a:latin typeface="Microsoft YaHei"/>
                <a:ea typeface="Microsoft YaHei"/>
              </a:rPr>
              <a:t>2.4738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3448050" y="2076450"/>
            <a:ext cx="2409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最优：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LightGBM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3448050" y="2352675"/>
            <a:ext cx="2409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8B97A8"/>
                </a:solidFill>
                <a:latin typeface="Microsoft YaHei"/>
                <a:ea typeface="Microsoft YaHei"/>
              </a:rPr>
              <a:t>比</a:t>
            </a:r>
            <a:r>
              <a:rPr lang="en-US" sz="1425">
                <a:solidFill>
                  <a:srgbClr val="8B97A8"/>
                </a:solidFill>
                <a:latin typeface="Microsoft YaHei"/>
                <a:ea typeface="Microsoft YaHei"/>
              </a:rPr>
              <a:t xml:space="preserve"> Persistence </a:t>
            </a:r>
            <a:r>
              <a:rPr lang="zh-CN" sz="1425">
                <a:solidFill>
                  <a:srgbClr val="8B97A8"/>
                </a:solidFill>
                <a:latin typeface="Microsoft YaHei"/>
                <a:ea typeface="Microsoft YaHei"/>
              </a:rPr>
              <a:t>好</a:t>
            </a:r>
            <a:r>
              <a:rPr lang="en-US" sz="1425">
                <a:solidFill>
                  <a:srgbClr val="8B97A8"/>
                </a:solidFill>
                <a:latin typeface="Microsoft YaHei"/>
                <a:ea typeface="Microsoft YaHei"/>
              </a:rPr>
              <a:t xml:space="preserve"> 18.58%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3448050" y="2990850"/>
            <a:ext cx="2409825" cy="361950"/>
          </a:xfrm>
          <a:prstGeom prst="roundRect">
            <a:avLst>
              <a:gd name="adj" fmla="val 15789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3562350" y="3067050"/>
            <a:ext cx="21812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4FA8"/>
                </a:solidFill>
                <a:latin typeface="Microsoft YaHei"/>
                <a:ea typeface="Microsoft YaHei"/>
              </a:rPr>
              <a:t>换预报换实测，误差翻倍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6162675" y="990600"/>
            <a:ext cx="2762250" cy="2552700"/>
          </a:xfrm>
          <a:prstGeom prst="roundRect">
            <a:avLst>
              <a:gd name="adj" fmla="val 2985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6334125" y="1181100"/>
            <a:ext cx="2419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乙　纯历史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6334125" y="1466850"/>
            <a:ext cx="241935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1E4FA8"/>
                </a:solidFill>
                <a:latin typeface="Microsoft YaHei"/>
                <a:ea typeface="Microsoft YaHei"/>
              </a:rPr>
              <a:t>2.2821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6334125" y="2076450"/>
            <a:ext cx="2419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最优：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LightGBM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6334125" y="2352675"/>
            <a:ext cx="2419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8B97A8"/>
                </a:solidFill>
                <a:latin typeface="Microsoft YaHei"/>
                <a:ea typeface="Microsoft YaHei"/>
              </a:rPr>
              <a:t>比</a:t>
            </a:r>
            <a:r>
              <a:rPr lang="en-US" sz="1425">
                <a:solidFill>
                  <a:srgbClr val="8B97A8"/>
                </a:solidFill>
                <a:latin typeface="Microsoft YaHei"/>
                <a:ea typeface="Microsoft YaHei"/>
              </a:rPr>
              <a:t xml:space="preserve"> Persistence </a:t>
            </a:r>
            <a:r>
              <a:rPr lang="zh-CN" sz="1425">
                <a:solidFill>
                  <a:srgbClr val="8B97A8"/>
                </a:solidFill>
                <a:latin typeface="Microsoft YaHei"/>
                <a:ea typeface="Microsoft YaHei"/>
              </a:rPr>
              <a:t>好</a:t>
            </a:r>
            <a:r>
              <a:rPr lang="en-US" sz="1425">
                <a:solidFill>
                  <a:srgbClr val="8B97A8"/>
                </a:solidFill>
                <a:latin typeface="Microsoft YaHei"/>
                <a:ea typeface="Microsoft YaHei"/>
              </a:rPr>
              <a:t xml:space="preserve"> 11.57%</a:t>
            </a:r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6334125" y="2990850"/>
            <a:ext cx="2419350" cy="361950"/>
          </a:xfrm>
          <a:prstGeom prst="roundRect">
            <a:avLst>
              <a:gd name="adj" fmla="val 15789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6448425" y="3067050"/>
            <a:ext cx="2190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4FA8"/>
                </a:solidFill>
                <a:latin typeface="Microsoft YaHei"/>
                <a:ea typeface="Microsoft YaHei"/>
              </a:rPr>
              <a:t>没有辐射，模型也能顶</a:t>
            </a:r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9058275" y="990600"/>
            <a:ext cx="2752725" cy="2552700"/>
          </a:xfrm>
          <a:prstGeom prst="roundRect">
            <a:avLst>
              <a:gd name="adj" fmla="val 2985"/>
            </a:avLst>
          </a:prstGeom>
          <a:solidFill>
            <a:srgbClr val="E8EFF8"/>
          </a:solidFill>
          <a:ln w="25400">
            <a:solidFill>
              <a:srgbClr val="1E4FA8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9229725" y="1181100"/>
            <a:ext cx="2409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丙　气象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历史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9229725" y="1466850"/>
            <a:ext cx="2409825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0E3F8C"/>
                </a:solidFill>
                <a:latin typeface="Microsoft YaHei"/>
                <a:ea typeface="Microsoft YaHei"/>
              </a:rPr>
              <a:t>1.4942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9229725" y="2076450"/>
            <a:ext cx="2409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最优：线性回归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9229725" y="2352675"/>
            <a:ext cx="2409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比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Persistence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好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41.74%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9229725" y="2990850"/>
            <a:ext cx="2409825" cy="361950"/>
          </a:xfrm>
          <a:prstGeom prst="roundRect">
            <a:avLst>
              <a:gd name="adj" fmla="val 15789"/>
            </a:avLst>
          </a:prstGeom>
          <a:solidFill>
            <a:srgbClr val="FFC107"/>
          </a:solidFill>
          <a:ln/>
        </p:spPr>
        <p:txBody>
          <a:bodyPr/>
          <a:p>
            <a:pPr/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9344025" y="3067050"/>
            <a:ext cx="21812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八个方法里它最好</a:t>
            </a:r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381000" y="3714750"/>
            <a:ext cx="5619750" cy="1247775"/>
          </a:xfrm>
          <a:prstGeom prst="roundRect">
            <a:avLst>
              <a:gd name="adj" fmla="val 6107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571500" y="3867150"/>
            <a:ext cx="52387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训练耗时差了三千倍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571500" y="4152900"/>
            <a:ext cx="523875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线性回归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0.003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秒，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LightGBM 0.42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秒，随机森林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2.36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秒，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LSTM 9.6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秒（单站四设定均值）。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6191250" y="3714750"/>
            <a:ext cx="5619750" cy="1247775"/>
          </a:xfrm>
          <a:prstGeom prst="roundRect">
            <a:avLst>
              <a:gd name="adj" fmla="val 6107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6381750" y="3867150"/>
            <a:ext cx="52387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参数不是随手定的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6381750" y="4152900"/>
            <a:ext cx="523875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树模型统一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100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棵、学习率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0.1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。我另外跑了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100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棵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vs 300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棵对照，十站均值反而从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2.2821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涨到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2.4538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11344275" y="6438900"/>
            <a:ext cx="466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E4FA8"/>
                </a:solidFill>
                <a:latin typeface="Microsoft YaHei"/>
                <a:ea typeface="Microsoft YaHei"/>
              </a:rPr>
              <a:t>07 / 13</a:t>
            </a:r>
            <a:endParaRPr/>
          </a:p>
        </p:txBody>
      </p:sp>
    </p:spTree>
  </p:cSld>
</p:sld>
</file>

<file path=ppt/slides/slide8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3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"/>
          <p:cNvSpPr/>
          <p:nvPr/>
        </p:nvSpPr>
        <p:spPr>
          <a:xfrm rot="0" flipH="0" flipV="0">
            <a:off x="0" y="0"/>
            <a:ext cx="12192000" cy="952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381000" y="381000"/>
            <a:ext cx="11430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4FA8"/>
                </a:solidFill>
                <a:latin typeface="Microsoft YaHei"/>
                <a:ea typeface="Microsoft YaHei"/>
              </a:rPr>
              <a:t>第一个关键发现：实测换预报，误差几乎翻倍</a:t>
            </a:r>
            <a:endParaRPr/>
          </a:p>
        </p:txBody>
      </p:sp>
      <p:pic>
        <p:nvPicPr>
          <p:cNvPr id="310" name=""/>
          <p:cNvPicPr>
            <a:picLocks noChangeAspect="1"/>
          </p:cNvPicPr>
          <p:nvPr/>
        </p:nvPicPr>
        <p:blipFill>
          <a:blip r:embed="rId1"/>
          <a:srcRect l="0" t="958" r="0" b="958"/>
          <a:stretch>
            <a:fillRect/>
          </a:stretch>
        </p:blipFill>
        <p:spPr>
          <a:xfrm rot="0" flipH="0" flipV="0">
            <a:off x="381000" y="990600"/>
            <a:ext cx="6810375" cy="2857500"/>
          </a:xfrm>
          <a:prstGeom prst="rect">
            <a:avLst/>
          </a:prstGeom>
          <a:ln/>
        </p:spPr>
      </p:pic>
      <p:sp>
        <p:nvSpPr>
          <p:cNvPr id="311" name=""/>
          <p:cNvSpPr/>
          <p:nvPr/>
        </p:nvSpPr>
        <p:spPr>
          <a:xfrm rot="0" flipH="0" flipV="0">
            <a:off x="7419975" y="990600"/>
            <a:ext cx="4391025" cy="1314450"/>
          </a:xfrm>
          <a:prstGeom prst="roundRect">
            <a:avLst>
              <a:gd name="adj" fmla="val 5797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7591425" y="1143000"/>
            <a:ext cx="404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同时刻实测总辐射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7591425" y="1409700"/>
            <a:ext cx="40481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1E4FA8"/>
                </a:solidFill>
                <a:latin typeface="Microsoft YaHei"/>
                <a:ea typeface="Microsoft YaHei"/>
              </a:rPr>
              <a:t>2.4738</a:t>
            </a:r>
            <a:endParaRPr/>
          </a:p>
        </p:txBody>
      </p:sp>
      <p:sp>
        <p:nvSpPr>
          <p:cNvPr id="314" name=""/>
          <p:cNvSpPr/>
          <p:nvPr/>
        </p:nvSpPr>
        <p:spPr>
          <a:xfrm rot="0" flipH="0" flipV="0">
            <a:off x="7419975" y="2419350"/>
            <a:ext cx="4391025" cy="1562100"/>
          </a:xfrm>
          <a:prstGeom prst="roundRect">
            <a:avLst>
              <a:gd name="adj" fmla="val 4878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7591425" y="2571750"/>
            <a:ext cx="404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同时刻预报总辐射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7591425" y="2838450"/>
            <a:ext cx="40481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D9534F"/>
                </a:solidFill>
                <a:latin typeface="Microsoft YaHei"/>
                <a:ea typeface="Microsoft YaHei"/>
              </a:rPr>
              <a:t>4.8725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7591425" y="3381375"/>
            <a:ext cx="4048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同样十站、同样模型，误差涨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 xml:space="preserve"> 97%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381000" y="4152900"/>
            <a:ext cx="5629275" cy="1247775"/>
          </a:xfrm>
          <a:prstGeom prst="roundRect">
            <a:avLst>
              <a:gd name="adj" fmla="val 6107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571500" y="4305300"/>
            <a:ext cx="52482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为什么会翻倍：预报本身就散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571500" y="4591050"/>
            <a:ext cx="5248275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十站平均，预报总辐射的归一化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RMSE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是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0.4455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，实测那条线基本贴着对角线，预报是一团雾。辐射不准，功率当然跟着飘。</a:t>
            </a:r>
            <a:endParaRPr/>
          </a:p>
        </p:txBody>
      </p:sp>
      <p:sp>
        <p:nvSpPr>
          <p:cNvPr id="321" name=""/>
          <p:cNvSpPr/>
          <p:nvPr/>
        </p:nvSpPr>
        <p:spPr>
          <a:xfrm rot="0" flipH="0" flipV="0">
            <a:off x="6181725" y="4152900"/>
            <a:ext cx="5629275" cy="1247775"/>
          </a:xfrm>
          <a:prstGeom prst="roundRect">
            <a:avLst>
              <a:gd name="adj" fmla="val 6107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6372225" y="4305300"/>
            <a:ext cx="52482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工程含义：先接气象，再换算法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6372225" y="4591050"/>
            <a:ext cx="5248275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十站总装机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193.6 MW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。两个设定的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MAE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差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4.64 MW ——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一个断面要拿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4.64 MW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备用去填，这比换什么模型都值钱。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11344275" y="6438900"/>
            <a:ext cx="466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E4FA8"/>
                </a:solidFill>
                <a:latin typeface="Microsoft YaHei"/>
                <a:ea typeface="Microsoft YaHei"/>
              </a:rPr>
              <a:t>08 / 13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3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"/>
          <p:cNvSpPr/>
          <p:nvPr/>
        </p:nvSpPr>
        <p:spPr>
          <a:xfrm rot="0" flipH="0" flipV="0">
            <a:off x="0" y="0"/>
            <a:ext cx="12192000" cy="952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381000" y="381000"/>
            <a:ext cx="11430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4FA8"/>
                </a:solidFill>
                <a:latin typeface="Microsoft YaHei"/>
                <a:ea typeface="Microsoft YaHei"/>
              </a:rPr>
              <a:t>第二个关键发现：线性回归赢过随机森林、</a:t>
            </a:r>
            <a:r>
              <a:rPr lang="en-US" sz="2700" b="1">
                <a:solidFill>
                  <a:srgbClr val="1E4FA8"/>
                </a:solidFill>
                <a:latin typeface="Microsoft YaHei"/>
                <a:ea typeface="Microsoft YaHei"/>
              </a:rPr>
              <a:t>XGBoost</a:t>
            </a:r>
            <a:r>
              <a:rPr lang="zh-CN" sz="2700" b="1">
                <a:solidFill>
                  <a:srgbClr val="1E4FA8"/>
                </a:solidFill>
                <a:latin typeface="Microsoft YaHei"/>
                <a:ea typeface="Microsoft YaHei"/>
              </a:rPr>
              <a:t>、</a:t>
            </a:r>
            <a:r>
              <a:rPr lang="en-US" sz="2700" b="1">
                <a:solidFill>
                  <a:srgbClr val="1E4FA8"/>
                </a:solidFill>
                <a:latin typeface="Microsoft YaHei"/>
                <a:ea typeface="Microsoft YaHei"/>
              </a:rPr>
              <a:t>LightGBM</a:t>
            </a:r>
            <a:r>
              <a:rPr lang="zh-CN" sz="2700" b="1">
                <a:solidFill>
                  <a:srgbClr val="1E4FA8"/>
                </a:solidFill>
                <a:latin typeface="Microsoft YaHei"/>
                <a:ea typeface="Microsoft YaHei"/>
              </a:rPr>
              <a:t>、</a:t>
            </a:r>
            <a:r>
              <a:rPr lang="en-US" sz="2700" b="1">
                <a:solidFill>
                  <a:srgbClr val="1E4FA8"/>
                </a:solidFill>
                <a:latin typeface="Microsoft YaHei"/>
                <a:ea typeface="Microsoft YaHei"/>
              </a:rPr>
              <a:t>LSTM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381000" y="1781175"/>
            <a:ext cx="257175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Persistence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（硬编码上一刻）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381000" y="2295525"/>
            <a:ext cx="25717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1A2230"/>
                </a:solidFill>
                <a:latin typeface="Microsoft YaHei"/>
                <a:ea typeface="Microsoft YaHei"/>
              </a:rPr>
              <a:t>2.5648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3162300" y="1552575"/>
            <a:ext cx="257175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线性回归（学到系数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0.9788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3162300" y="2066925"/>
            <a:ext cx="2571750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1E4FA8"/>
                </a:solidFill>
                <a:latin typeface="Microsoft YaHei"/>
                <a:ea typeface="Microsoft YaHei"/>
              </a:rPr>
              <a:t>2.7136</a:t>
            </a:r>
            <a:r>
              <a:rPr lang="zh-CN" sz="3000" b="1">
                <a:solidFill>
                  <a:srgbClr val="1E4FA8"/>
                </a:solidFill>
                <a:latin typeface="Microsoft YaHei"/>
                <a:ea typeface="Microsoft YaHei"/>
              </a:rPr>
              <a:t>　−</a:t>
            </a:r>
            <a:r>
              <a:rPr lang="en-US" sz="3000" b="1">
                <a:solidFill>
                  <a:srgbClr val="1E4FA8"/>
                </a:solidFill>
                <a:latin typeface="Microsoft YaHei"/>
                <a:ea typeface="Microsoft YaHei"/>
              </a:rPr>
              <a:t>5.80%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5943600" y="1552575"/>
            <a:ext cx="257175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随机森林（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200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棵，分段常数）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5943600" y="2066925"/>
            <a:ext cx="2571750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D9534F"/>
                </a:solidFill>
                <a:latin typeface="Microsoft YaHei"/>
                <a:ea typeface="Microsoft YaHei"/>
              </a:rPr>
              <a:t>3.1521</a:t>
            </a:r>
            <a:r>
              <a:rPr lang="zh-CN" sz="3000" b="1">
                <a:solidFill>
                  <a:srgbClr val="D9534F"/>
                </a:solidFill>
                <a:latin typeface="Microsoft YaHei"/>
                <a:ea typeface="Microsoft YaHei"/>
              </a:rPr>
              <a:t>　−</a:t>
            </a:r>
            <a:r>
              <a:rPr lang="en-US" sz="3000" b="1">
                <a:solidFill>
                  <a:srgbClr val="D9534F"/>
                </a:solidFill>
                <a:latin typeface="Microsoft YaHei"/>
                <a:ea typeface="Microsoft YaHei"/>
              </a:rPr>
              <a:t>22.90%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8724900" y="1019175"/>
            <a:ext cx="3086100" cy="2505075"/>
          </a:xfrm>
          <a:prstGeom prst="roundRect">
            <a:avLst>
              <a:gd name="adj" fmla="val 3042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8896350" y="1171575"/>
            <a:ext cx="27432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只给「上一刻功率」一个特征时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8896350" y="1695450"/>
            <a:ext cx="2743200" cy="981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最优解就是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P(t)=P(t−1)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。线性回归把系数学到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0.9788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，几乎就是这条直线。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8896350" y="2714625"/>
            <a:ext cx="27432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树模型只能输出叶子里训练样本的平均值，无法表达这条恒等式。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381000" y="3695700"/>
            <a:ext cx="5629275" cy="2324100"/>
          </a:xfrm>
          <a:prstGeom prst="roundRect">
            <a:avLst>
              <a:gd name="adj" fmla="val 3279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571500" y="3867150"/>
            <a:ext cx="5248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它解释了一个反常现象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571500" y="4200525"/>
            <a:ext cx="5248275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在辐射平稳的时段，随机森林比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Persistence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差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163% ——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因为它非要给每个叶子凑一个平均值，凭空制造抖动。</a:t>
            </a:r>
            <a:endParaRPr/>
          </a:p>
        </p:txBody>
      </p:sp>
      <p:sp>
        <p:nvSpPr>
          <p:cNvPr id="341" name=""/>
          <p:cNvSpPr/>
          <p:nvPr/>
        </p:nvSpPr>
        <p:spPr>
          <a:xfrm rot="0" flipH="0" flipV="0">
            <a:off x="571500" y="5438775"/>
            <a:ext cx="5248275" cy="409575"/>
          </a:xfrm>
          <a:prstGeom prst="roundRect">
            <a:avLst>
              <a:gd name="adj" fmla="val 13953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704850" y="5534025"/>
            <a:ext cx="49815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4FA8"/>
                </a:solidFill>
                <a:latin typeface="Microsoft YaHei"/>
                <a:ea typeface="Microsoft YaHei"/>
              </a:rPr>
              <a:t>所以「模型一定比基线好」这个前提，本身就不成立</a:t>
            </a:r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6181725" y="3695700"/>
            <a:ext cx="5629275" cy="2324100"/>
          </a:xfrm>
          <a:prstGeom prst="roundRect">
            <a:avLst>
              <a:gd name="adj" fmla="val 3279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6372225" y="3867150"/>
            <a:ext cx="5248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同时刻气象，历史替代不了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6372225" y="4200525"/>
            <a:ext cx="5248275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在最优的「气象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历史」设定里，只要删掉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6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个同时刻气象变量，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MAE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立刻恶化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61.49%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6372225" y="5438775"/>
            <a:ext cx="5248275" cy="409575"/>
          </a:xfrm>
          <a:prstGeom prst="roundRect">
            <a:avLst>
              <a:gd name="adj" fmla="val 13953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6505575" y="5534025"/>
            <a:ext cx="49815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4FA8"/>
                </a:solidFill>
                <a:latin typeface="Microsoft YaHei"/>
                <a:ea typeface="Microsoft YaHei"/>
              </a:rPr>
              <a:t>历史里再怎么滚，也滚不出此刻的云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11344275" y="6438900"/>
            <a:ext cx="466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E4FA8"/>
                </a:solidFill>
                <a:latin typeface="Microsoft YaHei"/>
                <a:ea typeface="Microsoft YaHei"/>
              </a:rPr>
              <a:t>09 / 13</a:t>
            </a:r>
            <a:endParaRPr/>
          </a:p>
        </p:txBody>
      </p:sp>
    </p:spTree>
  </p:cSld>
</p:sld>
</file>

<file path=ppt/slides/slide10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 rot="0" flipH="0" flipV="0">
            <a:off x="0" y="0"/>
            <a:ext cx="12192000" cy="952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381000" y="381000"/>
            <a:ext cx="11430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4FA8"/>
                </a:solidFill>
                <a:latin typeface="Microsoft YaHei"/>
                <a:ea typeface="Microsoft YaHei"/>
              </a:rPr>
              <a:t>第三个发现：什么时候模型会「帮倒忙」</a:t>
            </a:r>
            <a:endParaRPr/>
          </a:p>
        </p:txBody>
      </p:sp>
      <p:pic>
        <p:nvPicPr>
          <p:cNvPr id="20" name=""/>
          <p:cNvPicPr>
            <a:picLocks noChangeAspect="1"/>
          </p:cNvPicPr>
          <p:nvPr/>
        </p:nvPicPr>
        <p:blipFill>
          <a:blip r:embed="rId1"/>
          <a:srcRect l="0" t="21438" r="0" b="21438"/>
          <a:stretch>
            <a:fillRect/>
          </a:stretch>
        </p:blipFill>
        <p:spPr>
          <a:xfrm rot="0" flipH="0" flipV="0">
            <a:off x="381000" y="971550"/>
            <a:ext cx="11430000" cy="2381250"/>
          </a:xfrm>
          <a:prstGeom prst="rect">
            <a:avLst/>
          </a:prstGeom>
          <a:ln/>
        </p:spPr>
      </p:pic>
      <p:sp>
        <p:nvSpPr>
          <p:cNvPr id="21" name=""/>
          <p:cNvSpPr/>
          <p:nvPr/>
        </p:nvSpPr>
        <p:spPr>
          <a:xfrm rot="0" flipH="0" flipV="0">
            <a:off x="381000" y="3505200"/>
            <a:ext cx="3724275" cy="1714500"/>
          </a:xfrm>
          <a:prstGeom prst="roundRect">
            <a:avLst>
              <a:gd name="adj" fmla="val 4444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552450" y="3657600"/>
            <a:ext cx="33813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辐射几乎不动时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552450" y="3924300"/>
            <a:ext cx="33813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D9534F"/>
                </a:solidFill>
                <a:latin typeface="Microsoft YaHei"/>
                <a:ea typeface="Microsoft YaHei"/>
              </a:rPr>
              <a:t>−163%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552450" y="4419600"/>
            <a:ext cx="338137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随机森林反而比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Persistence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差，错得非常夸张。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4238625" y="3505200"/>
            <a:ext cx="3714750" cy="1714500"/>
          </a:xfrm>
          <a:prstGeom prst="roundRect">
            <a:avLst>
              <a:gd name="adj" fmla="val 4444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4410075" y="3657600"/>
            <a:ext cx="3371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辐射突变</a:t>
            </a: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30~60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4410075" y="3924300"/>
            <a:ext cx="33718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1E4FA8"/>
                </a:solidFill>
                <a:latin typeface="Microsoft YaHei"/>
                <a:ea typeface="Microsoft YaHei"/>
              </a:rPr>
              <a:t>+14.54%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4410075" y="4419600"/>
            <a:ext cx="33718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模型开始有用，但收益不大。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8086725" y="3505200"/>
            <a:ext cx="3724275" cy="1714500"/>
          </a:xfrm>
          <a:prstGeom prst="roundRect">
            <a:avLst>
              <a:gd name="adj" fmla="val 4444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8258175" y="3657600"/>
            <a:ext cx="33813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辐射剧变</a:t>
            </a: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&gt;60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8258175" y="3924300"/>
            <a:ext cx="33813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1E4FA8"/>
                </a:solidFill>
                <a:latin typeface="Microsoft YaHei"/>
                <a:ea typeface="Microsoft YaHei"/>
              </a:rPr>
              <a:t>+17.90%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8258175" y="4419600"/>
            <a:ext cx="338137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云来了，模型才真正站上风。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381000" y="5372100"/>
            <a:ext cx="11430000" cy="800100"/>
          </a:xfrm>
          <a:prstGeom prst="roundRect">
            <a:avLst>
              <a:gd name="adj" fmla="val 7143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09600" y="5581650"/>
            <a:ext cx="109728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FFFFFF"/>
                </a:solidFill>
                <a:latin typeface="Microsoft YaHei"/>
                <a:ea typeface="Microsoft YaHei"/>
              </a:rPr>
              <a:t>所以工程上不该一味上模型：晴天平稳时段直接用上一刻功率就够了，把算力留给云来了的那一刻。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11344275" y="6438900"/>
            <a:ext cx="466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E4FA8"/>
                </a:solidFill>
                <a:latin typeface="Microsoft YaHei"/>
                <a:ea typeface="Microsoft YaHei"/>
              </a:rPr>
              <a:t>10 / 13</a:t>
            </a:r>
            <a:endParaRPr/>
          </a:p>
        </p:txBody>
      </p:sp>
    </p:spTree>
  </p:cSld>
</p:sld>
</file>

<file path=ppt/slides/slide11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36" name="" descr="&lt;Slide style={{ padding: '0px' }}&gt;&#10;  &lt;Box style={{ width: '100%', height: 10, background: '#0E3F8C' }} /&gt;&#10;  &lt;Box style={{ padding: '26px 40px 0px 40px' }}&gt;&#10;    &lt;Text style={{ fontSize: 34, fontWeight: 'bold', color: '#1E4FA8' }}&gt;多站数据怎么用：联合训练胜过「预训练 + 微调」&lt;/Text&gt;&#10;  &lt;/Box&gt;&#10;  &lt;Box style={{ padding: '14px 40px 0px 40px' }}&gt;&#10;    &lt;Box style={{ flexDirection: 'row', gap: 22, height: 258 }}&gt;&#10;      &lt;Box style={{ flex: 1.5, flexDirection: 'column', gap: 6 }}&gt;&#10;        &lt;Image src=&quot;assets/three_learner.png&quot; style={{ width: '100%', height: 242, objectFit: 'contain' }} /&gt;&#10;      &lt;/Box&gt;&#10;      &lt;Box style={{ flex: 1, flexDirection: 'column', gap: 4 }}&gt;&#10;        &lt;Box style={{ flexDirection: 'row', alignItems: 'center', gap: 8, background: '#F0F5FC', border: '1px solid #D6DCE5', borderRadius: 8, padding: '2px 11px' }}&gt;&#10;          &lt;Text style={{ fontSize: 16, color: '#4A5568', flex: 1 }}&gt;单站从零（基线）&lt;/Text&gt;&#10;          &lt;Text style={{ fontSize: 20, fontWeight: 'bold', color: '#4A5568' }}&gt;3.941&lt;/Text&gt;&#10;        &lt;/Box&gt;&#10;        &lt;Box style={{ flexDirection: 'row', alignItems: 'center', gap: 8, background: '#F0F5FC', border: '1px solid #D6DCE5', borderRadius: 8, padding: '2px 11px' }}&gt;&#10;          &lt;Text style={{ fontSize: 16, color: '#4A5568', flex: 1 }}&gt;树　预训练 + 微调&lt;/Text&gt;&#10;          &lt;Text style={{ fontSize: 22, fontWeight: 'bold', color: '#D9534F' }}&gt;−0.36%&lt;/Text&gt;&#10;          &lt;Text style={{ fontSize: 15, color: '#8B97A8' }}&gt;6/10&lt;/Text&gt;&#10;        &lt;/Box&gt;&#10;        &lt;Box style={{ flexDirection: 'row', alignItems: 'center', gap: 8, background: '#F0F5FC', border: '1px solid #D6DCE5', borderRadius: 8, padding: '2px 11px' }}&gt;&#10;          &lt;Text style={{ fontSize: 16, color: '#4A5568', flex: 1 }}&gt;XGBoost　预训练 + 微调&lt;/Text&gt;&#10;          &lt;Text style={{ fontSize: 22, fontWeight: 'bold', color: '#D9534F' }}&gt;−11.81%&lt;/Text&gt;&#10;          &lt;Text style={{ fontSize: 15, color: '#8B97A8' }}&gt;5/10&lt;/Text&gt;&#10;        &lt;/Box&gt;&#10;        &lt;Box style={{ flexDirection: 'row', alignItems: 'center', gap: 8, background: '#E8EFF8', border: '1px solid #C6D7EC', borderRadius: 8, padding: '2px 11px' }}&gt;&#10;          &lt;Text style={{ fontSize: 16, color: '#4A5568', flex: 1 }}&gt;树　多站联合&lt;/Text&gt;&#10;          &lt;Text style={{ fontSize: 24, fontWeight: 'bold', color: '#1E4FA8' }}&gt;+14.61%&lt;/Text&gt;&#10;          &lt;Text style={{ fontSize: 15, color: '#8B97A8' }}&gt;8/10&lt;/Text&gt;&#10;        &lt;/Box&gt;&#10;        &lt;Box style={{ flexDirection: 'row', alignItems: 'center', gap: 8, background: '#E8EFF8', border: '1px solid #C6D7EC', borderRadius: 8, padding: '2px 11px' }}&gt;&#10;          &lt;Text style={{ fontSize: 16, color: '#4A5568', flex: 1 }}&gt;XGBoost　多站联合&lt;/Text&gt;&#10;          &lt;Text style={{ fontSize: 24, fontWeight: 'bold', color: '#1E4FA8' }}&gt;+4.11%&lt;/Text&gt;&#10;          &lt;Text style={{ fontSize: 15, color: '#8B97A8' }}&gt;6/10&lt;/Text&gt;&#10;        &lt;/Box&gt;&#10;        &lt;Box style={{ flexDirection: 'row', alignItems: 'center', gap: 8, background: '#F0F5FC', border: '1px solid #D6DCE5', borderRadius: 8, padding: '2px 11px' }}&gt;&#10;          &lt;Text style={{ fontSize: 16, color: '#4A5568', flex: 1 }}&gt;LSTM　预训练 + 微调&lt;/Text&gt;&#10;          &lt;Text style={{ fontSize: 24, fontWeight: 'bold', color: '#1E4FA8' }}&gt;+18.01%&lt;/Text&gt;&#10;          &lt;Text style={{ fontSize: 15, color: '#8B97A8' }}&gt;7/10&lt;/Text&gt;&#10;        &lt;/Box&gt;&#10;        &lt;Box style={{ flexDirection: 'row', alignItems: 'center', gap: 8, background: '#E8EFF8', border: '1px solid #C6D7EC', borderRadius: 8, padding: '2px 11px' }}&gt;&#10;          &lt;Text style={{ fontSize: 16, color: '#4A5568', flex: 1 }}&gt;LSTM　多站联合&lt;/Text&gt;&#10;          &lt;Text style={{ fontSize: 24, fontWeight: 'bold', color: '#1E4FA8' }}&gt;+36.15%&lt;/Text&gt;&#10;          &lt;Text style={{ fontSize: 15, color: '#8B97A8' }}&gt;10/10&lt;/Text&gt;&#10;        &lt;/Box&gt;&#10;      &lt;/Box&gt;&#10;    &lt;/Box&gt;&#10;    &lt;Box style={{ flexDirection: 'row', gap: 16, height: 104, marginTop: 10 }}&gt;&#10;      &lt;Box style={{ flex: 1.25, background: '#F0F5FC', borderRadius: 8, padding: '13px 20px', flexDirection: 'column', gap: 3 }}&gt;&#10;        &lt;Text style={{ fontSize: 20, fontWeight: 'bold', color: '#1A2230' }}&gt;换 XGBoost 复跑：方向一个都没变&lt;/Text&gt;&#10;        &lt;Text style={{ fontSize: 18, color: '#4A5568', lineHeight: 1.45 }}&gt;联合训练都是&lt;span style={{ fontWeight: 'bold', color: '#1E4FA8' }}&gt;排第一&lt;/span&gt;的正收益；随便搬别站模型都是&lt;span style={{ fontWeight: 'bold', color: '#D9534F' }}&gt;最差&lt;/span&gt;；微调只在 LSTM 上成立。三种模型，六个数，符号全同。&lt;/Text&gt;&#10;      &lt;/Box&gt;&#10;      &lt;Box style={{ flex: 1, background: '#F0F5FC', borderRadius: 8, padding: '13px 20px', flexDirection: 'column', gap: 3 }}&gt;&#10;        &lt;Text style={{ fontSize: 20, fontWeight: 'bold', color: '#1A2230' }}&gt;但「能降多少」要实测&lt;/Text&gt;&#10;        &lt;Text style={{ fontSize: 18, color: '#4A5568', lineHeight: 1.45 }}&gt;同为多站联合，两类树模型差 10.5 个百分点（14.61% 对 4.11%）。&lt;span style={{ fontWeight: 'bold' }}&gt;有效性稳，量级随求解器浮动&lt;/span&gt;，别照抄百分比。&lt;/Text&gt;&#10;      &lt;/Box&gt;&#10;    &lt;/Box&gt;&#10;  &lt;/Box&gt;&#10;  &lt;Box style={{ marginTop: 8, width: '100%', height: 118, background: '#0E3F8C', borderRadius: 6, padding: '12px 24px', flexDirection: 'column', justifyContent: 'center', gap: 4 }}&gt;&#10;    &lt;Text style={{ fontSize: 21, color: '#FFFFFF', lineHeight: 1.45 }}&gt;&#10;      一句话结论：迁移&lt;span style={{ fontWeight: 'bold' }}&gt;确实有效&lt;/span&gt;（十站平均 MAE：LSTM 3.941 → 3.169 → &lt;span style={{ fontWeight: 'bold' }}&gt;2.374&lt;/span&gt;；XGBoost 2.619 → &lt;span style={{ fontWeight: 'bold' }}&gt;2.416&lt;/span&gt;，单位 %装机容量），但&lt;span style={{ fontWeight: 'bold' }}&gt;多站联合比预训练 + 微调更划算&lt;/span&gt;。&#10;    &lt;/Text&gt;&#10;    &lt;Text style={{ fontSize: 21, color: '#D6E4F7', lineHeight: 1.45 }}&gt;&#10;      三种模型上这条都成立，其中两类树模型的「预训练 + 微调」都是&lt;span style={{ fontWeight: 'bold', color: '#FFFFFF' }}&gt;负收益&lt;/span&gt;。&#10;    &lt;/Text&gt;&#10;  &lt;/Box&gt;&#10;  &lt;Box style={{ position: 'absolute', right: 40, bottom: 24 }}&gt;&#10;    &lt;Text style={{ fontSize: 16, color: '#1E4FA8' }}&gt;11 / 13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 rot="0" flipH="0" flipV="0">
            <a:off x="0" y="0"/>
            <a:ext cx="12192000" cy="952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381000" y="3429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4FA8"/>
                </a:solidFill>
                <a:latin typeface="Microsoft YaHei"/>
                <a:ea typeface="Microsoft YaHei"/>
              </a:rPr>
              <a:t>多站数据怎么用：联合训练胜过「预训练</a:t>
            </a:r>
            <a:r>
              <a:rPr lang="en-US" sz="255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2550" b="1">
                <a:solidFill>
                  <a:srgbClr val="1E4FA8"/>
                </a:solidFill>
                <a:latin typeface="Microsoft YaHei"/>
                <a:ea typeface="Microsoft YaHei"/>
              </a:rPr>
              <a:t>微调」</a:t>
            </a:r>
            <a:endParaRPr/>
          </a:p>
        </p:txBody>
      </p:sp>
      <p:pic>
        <p:nvPicPr>
          <p:cNvPr id="39" name=""/>
          <p:cNvPicPr>
            <a:picLocks noChangeAspect="1"/>
          </p:cNvPicPr>
          <p:nvPr/>
        </p:nvPicPr>
        <p:blipFill>
          <a:blip r:embed="rId1"/>
          <a:srcRect l="0" t="14214" r="0" b="14214"/>
          <a:stretch>
            <a:fillRect/>
          </a:stretch>
        </p:blipFill>
        <p:spPr>
          <a:xfrm rot="0" flipH="0" flipV="0">
            <a:off x="381000" y="866775"/>
            <a:ext cx="6734175" cy="2305050"/>
          </a:xfrm>
          <a:prstGeom prst="rect">
            <a:avLst/>
          </a:prstGeom>
          <a:ln/>
        </p:spPr>
      </p:pic>
      <p:sp>
        <p:nvSpPr>
          <p:cNvPr id="40" name=""/>
          <p:cNvSpPr/>
          <p:nvPr/>
        </p:nvSpPr>
        <p:spPr>
          <a:xfrm rot="0" flipH="0" flipV="0">
            <a:off x="7324725" y="866775"/>
            <a:ext cx="4486275" cy="266700"/>
          </a:xfrm>
          <a:prstGeom prst="roundRect">
            <a:avLst>
              <a:gd name="adj" fmla="val 28571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7429500" y="904875"/>
            <a:ext cx="3714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单站从零（基线）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11220450" y="885825"/>
            <a:ext cx="4857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4A5568"/>
                </a:solidFill>
                <a:latin typeface="Microsoft YaHei"/>
                <a:ea typeface="Microsoft YaHei"/>
              </a:rPr>
              <a:t>3.941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7324725" y="1171575"/>
            <a:ext cx="4486275" cy="295275"/>
          </a:xfrm>
          <a:prstGeom prst="roundRect">
            <a:avLst>
              <a:gd name="adj" fmla="val 25806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7429500" y="1228725"/>
            <a:ext cx="3114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树　预训练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微调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10620375" y="1190625"/>
            <a:ext cx="723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D9534F"/>
                </a:solidFill>
                <a:latin typeface="Microsoft YaHei"/>
                <a:ea typeface="Microsoft YaHei"/>
              </a:rPr>
              <a:t>−0.36%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1420475" y="123825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6/10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7324725" y="1504950"/>
            <a:ext cx="4486275" cy="295275"/>
          </a:xfrm>
          <a:prstGeom prst="roundRect">
            <a:avLst>
              <a:gd name="adj" fmla="val 25806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7429500" y="1562100"/>
            <a:ext cx="3009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XGBoost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　预训练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微调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10515600" y="1524000"/>
            <a:ext cx="8286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D9534F"/>
                </a:solidFill>
                <a:latin typeface="Microsoft YaHei"/>
                <a:ea typeface="Microsoft YaHei"/>
              </a:rPr>
              <a:t>−11.81%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11420475" y="157162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5/10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7324725" y="1838325"/>
            <a:ext cx="4486275" cy="314325"/>
          </a:xfrm>
          <a:prstGeom prst="roundRect">
            <a:avLst>
              <a:gd name="adj" fmla="val 24242"/>
            </a:avLst>
          </a:prstGeom>
          <a:solidFill>
            <a:srgbClr val="E8EFF8"/>
          </a:solidFill>
          <a:ln w="12700">
            <a:solidFill>
              <a:srgbClr val="C6D7EC"/>
            </a:solidFill>
            <a:prstDash val="solid"/>
          </a:ln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429500" y="1905000"/>
            <a:ext cx="2924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树　多站联合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0429875" y="1857375"/>
            <a:ext cx="914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E4FA8"/>
                </a:solidFill>
                <a:latin typeface="Microsoft YaHei"/>
                <a:ea typeface="Microsoft YaHei"/>
              </a:rPr>
              <a:t>+14.61%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11420475" y="191452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8/10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7324725" y="2190750"/>
            <a:ext cx="4486275" cy="314325"/>
          </a:xfrm>
          <a:prstGeom prst="roundRect">
            <a:avLst>
              <a:gd name="adj" fmla="val 24242"/>
            </a:avLst>
          </a:prstGeom>
          <a:solidFill>
            <a:srgbClr val="E8EFF8"/>
          </a:solidFill>
          <a:ln w="12700">
            <a:solidFill>
              <a:srgbClr val="C6D7EC"/>
            </a:solidFill>
            <a:prstDash val="solid"/>
          </a:ln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7429500" y="2257425"/>
            <a:ext cx="3067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XGBoost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　多站联合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10572750" y="2209800"/>
            <a:ext cx="771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E4FA8"/>
                </a:solidFill>
                <a:latin typeface="Microsoft YaHei"/>
                <a:ea typeface="Microsoft YaHei"/>
              </a:rPr>
              <a:t>+4.11%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11420475" y="226695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6/10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7324725" y="2543175"/>
            <a:ext cx="4486275" cy="314325"/>
          </a:xfrm>
          <a:prstGeom prst="roundRect">
            <a:avLst>
              <a:gd name="adj" fmla="val 24242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7429500" y="2609850"/>
            <a:ext cx="2924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LSTM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　预训练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微调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10429875" y="2562225"/>
            <a:ext cx="914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E4FA8"/>
                </a:solidFill>
                <a:latin typeface="Microsoft YaHei"/>
                <a:ea typeface="Microsoft YaHei"/>
              </a:rPr>
              <a:t>+18.01%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11420475" y="26193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7/10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7324725" y="2895600"/>
            <a:ext cx="4486275" cy="314325"/>
          </a:xfrm>
          <a:prstGeom prst="roundRect">
            <a:avLst>
              <a:gd name="adj" fmla="val 24242"/>
            </a:avLst>
          </a:prstGeom>
          <a:solidFill>
            <a:srgbClr val="E8EFF8"/>
          </a:solidFill>
          <a:ln w="12700">
            <a:solidFill>
              <a:srgbClr val="C6D7EC"/>
            </a:solidFill>
            <a:prstDash val="solid"/>
          </a:ln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7429500" y="2962275"/>
            <a:ext cx="28479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LSTM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　多站联合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10353675" y="2914650"/>
            <a:ext cx="914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E4FA8"/>
                </a:solidFill>
                <a:latin typeface="Microsoft YaHei"/>
                <a:ea typeface="Microsoft YaHei"/>
              </a:rPr>
              <a:t>+36.15%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1344275" y="2971800"/>
            <a:ext cx="361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10/10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381000" y="3419475"/>
            <a:ext cx="6267450" cy="1104900"/>
          </a:xfrm>
          <a:prstGeom prst="roundRect">
            <a:avLst>
              <a:gd name="adj" fmla="val 6897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571500" y="3543300"/>
            <a:ext cx="5886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换</a:t>
            </a: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XGBoost 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复跑：方向一个都没变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571500" y="3800475"/>
            <a:ext cx="588645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联合训练都是</a:t>
            </a: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排第一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的正收益；随便搬别站模型都是</a:t>
            </a:r>
            <a:r>
              <a:rPr lang="zh-CN" sz="1350" b="1">
                <a:solidFill>
                  <a:srgbClr val="D9534F"/>
                </a:solidFill>
                <a:latin typeface="Microsoft YaHei"/>
                <a:ea typeface="Microsoft YaHei"/>
              </a:rPr>
              <a:t>最差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；微调只在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LSTM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上成立。三种模型，六个数，符号全同。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6800850" y="3419475"/>
            <a:ext cx="5010150" cy="1104900"/>
          </a:xfrm>
          <a:prstGeom prst="roundRect">
            <a:avLst>
              <a:gd name="adj" fmla="val 6897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991350" y="3543300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但「能降多少」要实测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6991350" y="3800475"/>
            <a:ext cx="462915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同为多站联合，两类树模型差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10.5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个百分点（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14.61%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对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4.11%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）。</a:t>
            </a:r>
            <a:r>
              <a:rPr lang="zh-CN" sz="1350" b="1">
                <a:solidFill>
                  <a:srgbClr val="4A5568"/>
                </a:solidFill>
                <a:latin typeface="Microsoft YaHei"/>
                <a:ea typeface="Microsoft YaHei"/>
              </a:rPr>
              <a:t>有效性稳，量级随求解器浮动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，别照抄百分比。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0" y="4486275"/>
            <a:ext cx="12192000" cy="1123950"/>
          </a:xfrm>
          <a:prstGeom prst="roundRect">
            <a:avLst>
              <a:gd name="adj" fmla="val 5085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228600" y="4505325"/>
            <a:ext cx="117348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一句话结论：迁移</a:t>
            </a: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确实有效</a:t>
            </a: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（十站平均</a:t>
            </a:r>
            <a:r>
              <a:rPr lang="en-US" sz="1575">
                <a:solidFill>
                  <a:srgbClr val="FFFFFF"/>
                </a:solidFill>
                <a:latin typeface="Microsoft YaHei"/>
                <a:ea typeface="Microsoft YaHei"/>
              </a:rPr>
              <a:t xml:space="preserve"> MAE</a:t>
            </a: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：</a:t>
            </a:r>
            <a:r>
              <a:rPr lang="en-US" sz="1575">
                <a:solidFill>
                  <a:srgbClr val="FFFFFF"/>
                </a:solidFill>
                <a:latin typeface="Microsoft YaHei"/>
                <a:ea typeface="Microsoft YaHei"/>
              </a:rPr>
              <a:t xml:space="preserve">LSTM 3.941 → 3.169 → </a:t>
            </a: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2.374</a:t>
            </a: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；</a:t>
            </a:r>
            <a:r>
              <a:rPr lang="en-US" sz="1575">
                <a:solidFill>
                  <a:srgbClr val="FFFFFF"/>
                </a:solidFill>
                <a:latin typeface="Microsoft YaHei"/>
                <a:ea typeface="Microsoft YaHei"/>
              </a:rPr>
              <a:t xml:space="preserve">XGBoost 2.619 → </a:t>
            </a: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2.416</a:t>
            </a: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，单位</a:t>
            </a:r>
            <a:r>
              <a:rPr lang="en-US" sz="1575">
                <a:solidFill>
                  <a:srgbClr val="FFFFFF"/>
                </a:solidFill>
                <a:latin typeface="Microsoft YaHei"/>
                <a:ea typeface="Microsoft YaHei"/>
              </a:rPr>
              <a:t xml:space="preserve"> %</a:t>
            </a: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装机容量），但</a:t>
            </a: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多站联合比预训练</a:t>
            </a: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微调更划算</a:t>
            </a: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228600" y="5248275"/>
            <a:ext cx="11734800" cy="3524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575">
                <a:solidFill>
                  <a:srgbClr val="D6E4F7"/>
                </a:solidFill>
                <a:latin typeface="Microsoft YaHei"/>
                <a:ea typeface="Microsoft YaHei"/>
              </a:rPr>
              <a:t>三种模型上这条都成立，其中两类树模型的「预训练</a:t>
            </a:r>
            <a:r>
              <a:rPr lang="en-US" sz="1575">
                <a:solidFill>
                  <a:srgbClr val="D6E4F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575">
                <a:solidFill>
                  <a:srgbClr val="D6E4F7"/>
                </a:solidFill>
                <a:latin typeface="Microsoft YaHei"/>
                <a:ea typeface="Microsoft YaHei"/>
              </a:rPr>
              <a:t>微调」都是</a:t>
            </a: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负收益</a:t>
            </a:r>
            <a:r>
              <a:rPr lang="zh-CN" sz="1575">
                <a:solidFill>
                  <a:srgbClr val="D6E4F7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11353800" y="643890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E4FA8"/>
                </a:solidFill>
                <a:latin typeface="Microsoft YaHei"/>
                <a:ea typeface="Microsoft YaHei"/>
              </a:rPr>
              <a:t>11 / 13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 rot="0" flipH="0" flipV="0">
            <a:off x="0" y="0"/>
            <a:ext cx="12192000" cy="952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381000" y="381000"/>
            <a:ext cx="11430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4FA8"/>
                </a:solidFill>
                <a:latin typeface="Microsoft YaHei"/>
                <a:ea typeface="Microsoft YaHei"/>
              </a:rPr>
              <a:t>预测不准，调度到底会损失什么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381000" y="990600"/>
            <a:ext cx="5619750" cy="2108200"/>
          </a:xfrm>
          <a:prstGeom prst="roundRect">
            <a:avLst>
              <a:gd name="adj" fmla="val 3883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571500" y="1162050"/>
            <a:ext cx="5238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少报：预测</a:t>
            </a: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&lt;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实际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571500" y="1514475"/>
            <a:ext cx="523875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调度按偏低的预测多开了火电机组，结果光伏发得更多。火电有最小技术出力压不下去，多余的光伏只能弃掉。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571500" y="2362200"/>
            <a:ext cx="5238750" cy="419100"/>
          </a:xfrm>
          <a:prstGeom prst="roundRect">
            <a:avLst>
              <a:gd name="adj" fmla="val 13636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704850" y="2457450"/>
            <a:ext cx="4972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丢的是电量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6191250" y="990600"/>
            <a:ext cx="5619750" cy="2108200"/>
          </a:xfrm>
          <a:prstGeom prst="roundRect">
            <a:avLst>
              <a:gd name="adj" fmla="val 3448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6381750" y="1162050"/>
            <a:ext cx="5238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多报：预测</a:t>
            </a: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&gt;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实际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6381750" y="1514475"/>
            <a:ext cx="5238750" cy="1019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调度按偏高预测压减了火电，结果光伏发不出来，出现功率缺额，只能靠旋转备用、储能放电、快速启停机组临时顶上，还要吃并网考核。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6381750" y="2609850"/>
            <a:ext cx="5238750" cy="419100"/>
          </a:xfrm>
          <a:prstGeom prst="roundRect">
            <a:avLst>
              <a:gd name="adj" fmla="val 13636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6515100" y="2705100"/>
            <a:ext cx="4972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D9534F"/>
                </a:solidFill>
                <a:latin typeface="Microsoft YaHei"/>
                <a:ea typeface="Microsoft YaHei"/>
              </a:rPr>
              <a:t>丢的是钱，单位代价更高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381000" y="3105150"/>
            <a:ext cx="5629275" cy="1571625"/>
          </a:xfrm>
          <a:prstGeom prst="roundRect">
            <a:avLst>
              <a:gd name="adj" fmla="val 4848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571500" y="3257550"/>
            <a:ext cx="52482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换算成具体量级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571500" y="3543300"/>
            <a:ext cx="5248275" cy="981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十站总装机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193.6 MW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。实测气象设定每个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15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分钟断面要备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4.79 MW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；换预报气象是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9.43 MW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，相差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4.64 MW ——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这就是「接一条站内气象站」换来的备用缺口。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6181725" y="3105150"/>
            <a:ext cx="5629275" cy="1571625"/>
          </a:xfrm>
          <a:prstGeom prst="roundRect">
            <a:avLst>
              <a:gd name="adj" fmla="val 4848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6372225" y="3257550"/>
            <a:ext cx="52482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往双碳上算一笔账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6372225" y="3543300"/>
            <a:ext cx="5248275" cy="981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预测越不准，调度越不敢少留备用，光伏大发时也得留一批随时能上调的火电兜底，这些机组大多时间闲置却在持续排放。精度压下去，一头省备用火电、一头少弃光。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381000" y="4667250"/>
            <a:ext cx="3600450" cy="1219200"/>
          </a:xfrm>
          <a:prstGeom prst="roundRect">
            <a:avLst>
              <a:gd name="adj" fmla="val 625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533400" y="4781550"/>
            <a:ext cx="3295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D9534F"/>
                </a:solidFill>
                <a:latin typeface="Microsoft YaHei"/>
                <a:ea typeface="Microsoft YaHei"/>
              </a:rPr>
              <a:t xml:space="preserve">2.6 </a:t>
            </a:r>
            <a:r>
              <a:rPr lang="zh-CN" sz="2550" b="1">
                <a:solidFill>
                  <a:srgbClr val="D9534F"/>
                </a:solidFill>
                <a:latin typeface="Microsoft YaHei"/>
                <a:ea typeface="Microsoft YaHei"/>
              </a:rPr>
              <a:t>倍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533400" y="5191125"/>
            <a:ext cx="329565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甲′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以多报为主：多报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561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万元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&gt;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少报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216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万元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4114800" y="4667250"/>
            <a:ext cx="3600450" cy="1219200"/>
          </a:xfrm>
          <a:prstGeom prst="roundRect">
            <a:avLst>
              <a:gd name="adj" fmla="val 625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4267200" y="4781550"/>
            <a:ext cx="3295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2.0 </a:t>
            </a:r>
            <a:r>
              <a:rPr lang="zh-CN" sz="2550" b="1">
                <a:solidFill>
                  <a:srgbClr val="1E4FA8"/>
                </a:solidFill>
                <a:latin typeface="Microsoft YaHei"/>
                <a:ea typeface="Microsoft YaHei"/>
              </a:rPr>
              <a:t>倍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4267200" y="5191125"/>
            <a:ext cx="329565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丙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反过来以少报为主：少报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148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万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&gt;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多报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74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万元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7848600" y="4667250"/>
            <a:ext cx="3962400" cy="1028700"/>
          </a:xfrm>
          <a:prstGeom prst="roundRect">
            <a:avLst>
              <a:gd name="adj" fmla="val 7407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8001000" y="4781550"/>
            <a:ext cx="3657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A2230"/>
                </a:solidFill>
                <a:latin typeface="Microsoft YaHei"/>
                <a:ea typeface="Microsoft YaHei"/>
              </a:rPr>
              <a:t>0.00%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8001000" y="5191125"/>
            <a:ext cx="365760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整体加偏置省不下钱；换信息源省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71.4%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381000" y="5930900"/>
            <a:ext cx="11430000" cy="781050"/>
          </a:xfrm>
          <a:prstGeom prst="roundRect">
            <a:avLst>
              <a:gd name="adj" fmla="val 7317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609600" y="5940425"/>
            <a:ext cx="1097280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650">
                <a:solidFill>
                  <a:srgbClr val="FFFFFF"/>
                </a:solidFill>
                <a:latin typeface="Microsoft YaHei"/>
                <a:ea typeface="Microsoft YaHei"/>
              </a:rPr>
              <a:t>这个短板我认领之后就补掉了（</a:t>
            </a:r>
            <a:r>
              <a:rPr lang="en-US" sz="1650">
                <a:solidFill>
                  <a:srgbClr val="FFFFFF"/>
                </a:solidFill>
                <a:latin typeface="Microsoft YaHei"/>
                <a:ea typeface="Microsoft YaHei"/>
              </a:rPr>
              <a:t xml:space="preserve">MAE </a:t>
            </a:r>
            <a:r>
              <a:rPr lang="zh-CN" sz="1650">
                <a:solidFill>
                  <a:srgbClr val="FFFFFF"/>
                </a:solidFill>
                <a:latin typeface="Microsoft YaHei"/>
                <a:ea typeface="Microsoft YaHei"/>
              </a:rPr>
              <a:t>对称、工程成本不对称）：</a:t>
            </a:r>
            <a:r>
              <a:rPr lang="en-US" sz="1650">
                <a:solidFill>
                  <a:srgbClr val="FFFFFF"/>
                </a:solidFill>
                <a:latin typeface="Microsoft YaHei"/>
                <a:ea typeface="Microsoft YaHei"/>
              </a:rPr>
              <a:t xml:space="preserve">85 </a:t>
            </a:r>
            <a:r>
              <a:rPr lang="zh-CN" sz="1650">
                <a:solidFill>
                  <a:srgbClr val="FFFFFF"/>
                </a:solidFill>
                <a:latin typeface="Microsoft YaHei"/>
                <a:ea typeface="Microsoft YaHei"/>
              </a:rPr>
              <a:t>天、近</a:t>
            </a:r>
            <a:r>
              <a:rPr lang="en-US" sz="1650">
                <a:solidFill>
                  <a:srgbClr val="FFFFFF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650">
                <a:solidFill>
                  <a:srgbClr val="FFFFFF"/>
                </a:solidFill>
                <a:latin typeface="Microsoft YaHei"/>
                <a:ea typeface="Microsoft YaHei"/>
              </a:rPr>
              <a:t>万白天断面对账</a:t>
            </a:r>
            <a:r>
              <a:rPr lang="en-US" sz="1650">
                <a:solidFill>
                  <a:srgbClr val="FFFFFF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650">
                <a:solidFill>
                  <a:srgbClr val="FFFFFF"/>
                </a:solidFill>
                <a:latin typeface="Microsoft YaHei"/>
                <a:ea typeface="Microsoft YaHei"/>
              </a:rPr>
              <a:t>该换的是信息源，不是调偏置。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11344275" y="6438900"/>
            <a:ext cx="466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12 / 13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"/>
          <p:cNvSpPr/>
          <p:nvPr/>
        </p:nvSpPr>
        <p:spPr>
          <a:xfrm rot="0" flipH="0" flipV="0">
            <a:off x="0" y="0"/>
            <a:ext cx="12192000" cy="952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381000" y="381000"/>
            <a:ext cx="11430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4FA8"/>
                </a:solidFill>
                <a:latin typeface="Microsoft YaHei"/>
                <a:ea typeface="Microsoft YaHei"/>
              </a:rPr>
              <a:t>五、我知道自己差在哪，也知道下一步补什么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381000" y="990600"/>
            <a:ext cx="3724275" cy="2286000"/>
          </a:xfrm>
          <a:prstGeom prst="roundRect">
            <a:avLst>
              <a:gd name="adj" fmla="val 3333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552450" y="1162050"/>
            <a:ext cx="33813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不足一：只跑了河北一年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552450" y="1476375"/>
            <a:ext cx="3381375" cy="1352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题目给的另一份公开数据（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Kaggle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印度两站、34 天）还没用上。同一套流程换到别的气候区还能不能站住，下一步照原样复跑一遍。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4238625" y="990600"/>
            <a:ext cx="3714750" cy="2286000"/>
          </a:xfrm>
          <a:prstGeom prst="roundRect">
            <a:avLst>
              <a:gd name="adj" fmla="val 3333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4410075" y="1162050"/>
            <a:ext cx="3371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不足二：只用了单一结构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4410075" y="1476375"/>
            <a:ext cx="3371850" cy="1019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LSTM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只试了一组隐层结构和固定轮数，只能用来比相对次序，不宜当精度上限。树模型也没做网格搜索。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8086725" y="990600"/>
            <a:ext cx="3724275" cy="2286000"/>
          </a:xfrm>
          <a:prstGeom prst="roundRect">
            <a:avLst>
              <a:gd name="adj" fmla="val 3333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8258175" y="1162050"/>
            <a:ext cx="33813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不足三：两个站点的异常没处理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8258175" y="1476375"/>
            <a:ext cx="3381375" cy="1352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station04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归一化峰值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1.338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（超登记容量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33.8%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），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station09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只有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0.602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（疑似限发）。下一步：剔除后重跑做敏感性分析。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381000" y="3429000"/>
            <a:ext cx="5629275" cy="1895475"/>
          </a:xfrm>
          <a:prstGeom prst="roundRect">
            <a:avLst>
              <a:gd name="adj" fmla="val 402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571500" y="3581400"/>
            <a:ext cx="52482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这一步让我真正确认的事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571500" y="3867150"/>
            <a:ext cx="5248275" cy="1304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把公开数据从头跑通、把三处数据坑自己找出来、把「模型一定更好」这个想当然推翻了；「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MAE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对称、工程成本不对称」这个短板，我也用真实电价把它量化对账了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这才是我这次最大的收获。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6181725" y="3429000"/>
            <a:ext cx="5629275" cy="1638300"/>
          </a:xfrm>
          <a:prstGeom prst="roundRect">
            <a:avLst>
              <a:gd name="adj" fmla="val 4651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6372225" y="3581400"/>
            <a:ext cx="52482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请老师和学长学姐指正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6372225" y="3867150"/>
            <a:ext cx="5248275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代码、数据说明、结果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CSV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和报告都在材料包里，可以逐条复核。谢谢！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11344275" y="6438900"/>
            <a:ext cx="466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E4FA8"/>
                </a:solidFill>
                <a:latin typeface="Microsoft YaHei"/>
                <a:ea typeface="Microsoft YaHei"/>
              </a:rPr>
              <a:t>13 / 13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2026-10-03T18:46:54Z</dcterms:created>
  <dcterms:modified xsi:type="dcterms:W3CDTF">2026-10-03T18:46:54Z</dcterms:modified>
</cp:coreProperties>
</file>